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iDM5hdVhTp9v72GHo+GwuXHmWh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61fb1e9ae807ce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h61fb1e9ae807ce9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ef299680b987ec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hef299680b987ec2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ef299680b987ec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hef299680b987ec2_1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61fb1e9ae807ce9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h61fb1e9ae807ce97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ef299680b987ec2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hef299680b987ec2_1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h61fb1e9ae807ce9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h61fb1e9ae807ce97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61fb1e9ae807ce97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h61fb1e9ae807ce97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ef299680b987ec2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hef299680b987ec2_1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ef299680b987ec2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hef299680b987ec2_1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83" name="Shape 83"/>
        <p:cNvGrpSpPr/>
        <p:nvPr/>
      </p:nvGrpSpPr>
      <p:grpSpPr>
        <a:xfrm>
          <a:off x="0" y="0"/>
          <a:ext cx="0" cy="0"/>
          <a:chOff x="0" y="0"/>
          <a:chExt cx="0" cy="0"/>
        </a:xfrm>
      </p:grpSpPr>
      <p:sp>
        <p:nvSpPr>
          <p:cNvPr id="84" name="Google Shape;84;p1"/>
          <p:cNvSpPr/>
          <p:nvPr/>
        </p:nvSpPr>
        <p:spPr>
          <a:xfrm>
            <a:off x="685800" y="1024128"/>
            <a:ext cx="128016" cy="4480560"/>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txBox="1"/>
          <p:nvPr/>
        </p:nvSpPr>
        <p:spPr>
          <a:xfrm>
            <a:off x="1051560" y="1234440"/>
            <a:ext cx="9144000" cy="1005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5600" u="none" cap="none" strike="noStrike">
                <a:solidFill>
                  <a:srgbClr val="48404E"/>
                </a:solidFill>
                <a:latin typeface="Arial"/>
                <a:ea typeface="Arial"/>
                <a:cs typeface="Arial"/>
                <a:sym typeface="Arial"/>
              </a:rPr>
              <a:t>SALAMA</a:t>
            </a:r>
            <a:endParaRPr/>
          </a:p>
        </p:txBody>
      </p:sp>
      <p:sp>
        <p:nvSpPr>
          <p:cNvPr id="86" name="Google Shape;86;p1"/>
          <p:cNvSpPr txBox="1"/>
          <p:nvPr/>
        </p:nvSpPr>
        <p:spPr>
          <a:xfrm>
            <a:off x="1097280" y="2423160"/>
            <a:ext cx="9601200" cy="164592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2900" u="none" cap="none" strike="noStrike">
                <a:solidFill>
                  <a:srgbClr val="48404E"/>
                </a:solidFill>
                <a:latin typeface="Arial"/>
                <a:ea typeface="Arial"/>
                <a:cs typeface="Arial"/>
                <a:sym typeface="Arial"/>
              </a:rPr>
              <a:t>NLP-Based Gender-Based Violence</a:t>
            </a:r>
            <a:endParaRPr/>
          </a:p>
          <a:p>
            <a:pPr indent="0" lvl="0" marL="0" marR="0" rtl="0" algn="l">
              <a:spcBef>
                <a:spcPts val="1000"/>
              </a:spcBef>
              <a:spcAft>
                <a:spcPts val="0"/>
              </a:spcAft>
              <a:buNone/>
            </a:pPr>
            <a:r>
              <a:rPr b="0" i="0" lang="en-US" sz="2900" u="none" cap="none" strike="noStrike">
                <a:solidFill>
                  <a:srgbClr val="48404E"/>
                </a:solidFill>
                <a:latin typeface="Arial"/>
                <a:ea typeface="Arial"/>
                <a:cs typeface="Arial"/>
                <a:sym typeface="Arial"/>
              </a:rPr>
              <a:t>Support Recommendation System</a:t>
            </a:r>
            <a:endParaRPr/>
          </a:p>
        </p:txBody>
      </p:sp>
      <p:sp>
        <p:nvSpPr>
          <p:cNvPr id="87" name="Google Shape;87;p1"/>
          <p:cNvSpPr/>
          <p:nvPr/>
        </p:nvSpPr>
        <p:spPr>
          <a:xfrm>
            <a:off x="1097280" y="4800600"/>
            <a:ext cx="9601200" cy="713232"/>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1344168" y="5001768"/>
            <a:ext cx="9144000" cy="384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900">
                <a:solidFill>
                  <a:srgbClr val="48404E"/>
                </a:solidFill>
              </a:rPr>
              <a:t>By: Phyllis Njeri Kiarie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92" name="Shape 92"/>
        <p:cNvGrpSpPr/>
        <p:nvPr/>
      </p:nvGrpSpPr>
      <p:grpSpPr>
        <a:xfrm>
          <a:off x="0" y="0"/>
          <a:ext cx="0" cy="0"/>
          <a:chOff x="0" y="0"/>
          <a:chExt cx="0" cy="0"/>
        </a:xfrm>
      </p:grpSpPr>
      <p:sp>
        <p:nvSpPr>
          <p:cNvPr id="93" name="Google Shape;93;p2"/>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2"/>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The challenge</a:t>
            </a:r>
            <a:endParaRPr/>
          </a:p>
        </p:txBody>
      </p:sp>
      <p:sp>
        <p:nvSpPr>
          <p:cNvPr id="95" name="Google Shape;95;p2"/>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Why this project matters</a:t>
            </a:r>
            <a:endParaRPr/>
          </a:p>
        </p:txBody>
      </p:sp>
      <p:sp>
        <p:nvSpPr>
          <p:cNvPr id="96" name="Google Shape;96;p2"/>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98" name="Google Shape;98;p2"/>
          <p:cNvSpPr txBox="1"/>
          <p:nvPr/>
        </p:nvSpPr>
        <p:spPr>
          <a:xfrm>
            <a:off x="11064240" y="6537960"/>
            <a:ext cx="32004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2</a:t>
            </a:r>
            <a:endParaRPr/>
          </a:p>
        </p:txBody>
      </p:sp>
      <p:sp>
        <p:nvSpPr>
          <p:cNvPr id="99" name="Google Shape;99;p2"/>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2"/>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2"/>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Finding help is difficult</a:t>
            </a:r>
            <a:endParaRPr/>
          </a:p>
        </p:txBody>
      </p:sp>
      <p:sp>
        <p:nvSpPr>
          <p:cNvPr id="102" name="Google Shape;102;p2"/>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Support information may be spread across different organisations.</a:t>
            </a:r>
            <a:endParaRPr/>
          </a:p>
        </p:txBody>
      </p:sp>
      <p:sp>
        <p:nvSpPr>
          <p:cNvPr id="103" name="Google Shape;103;p2"/>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2"/>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2"/>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Speaking up can be hard</a:t>
            </a:r>
            <a:endParaRPr/>
          </a:p>
        </p:txBody>
      </p:sp>
      <p:sp>
        <p:nvSpPr>
          <p:cNvPr id="106" name="Google Shape;106;p2"/>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Stigma, fear and privacy concerns can discourage disclosure.</a:t>
            </a:r>
            <a:endParaRPr/>
          </a:p>
        </p:txBody>
      </p:sp>
      <p:sp>
        <p:nvSpPr>
          <p:cNvPr id="107" name="Google Shape;107;p2"/>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2"/>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2"/>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Experiences can overlap</a:t>
            </a:r>
            <a:endParaRPr/>
          </a:p>
        </p:txBody>
      </p:sp>
      <p:sp>
        <p:nvSpPr>
          <p:cNvPr id="110" name="Google Shape;110;p2"/>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One person may describe more than one form of violence.</a:t>
            </a:r>
            <a:endParaRPr/>
          </a:p>
        </p:txBody>
      </p:sp>
      <p:sp>
        <p:nvSpPr>
          <p:cNvPr id="111" name="Google Shape;111;p2"/>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Access should offer choice</a:t>
            </a:r>
            <a:endParaRPr/>
          </a:p>
        </p:txBody>
      </p:sp>
      <p:sp>
        <p:nvSpPr>
          <p:cNvPr id="114" name="Google Shape;114;p2"/>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People should be able to explore services without sharing a story.</a:t>
            </a:r>
            <a:endParaRPr/>
          </a:p>
        </p:txBody>
      </p:sp>
      <p:sp>
        <p:nvSpPr>
          <p:cNvPr id="115" name="Google Shape;115;p2"/>
          <p:cNvSpPr/>
          <p:nvPr/>
        </p:nvSpPr>
        <p:spPr>
          <a:xfrm>
            <a:off x="822960" y="5696712"/>
            <a:ext cx="10515600" cy="530352"/>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2"/>
          <p:cNvSpPr txBox="1"/>
          <p:nvPr/>
        </p:nvSpPr>
        <p:spPr>
          <a:xfrm>
            <a:off x="987552" y="5797296"/>
            <a:ext cx="101499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500">
                <a:solidFill>
                  <a:srgbClr val="48404E"/>
                </a:solidFill>
              </a:rPr>
              <a:t>The </a:t>
            </a:r>
            <a:r>
              <a:rPr b="0" i="0" lang="en-US" sz="1500" u="none" cap="none" strike="noStrike">
                <a:solidFill>
                  <a:srgbClr val="48404E"/>
                </a:solidFill>
                <a:latin typeface="Arial"/>
                <a:ea typeface="Arial"/>
                <a:cs typeface="Arial"/>
                <a:sym typeface="Arial"/>
              </a:rPr>
              <a:t>guiding question: How can technology make support information easier to find?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120" name="Shape 120"/>
        <p:cNvGrpSpPr/>
        <p:nvPr/>
      </p:nvGrpSpPr>
      <p:grpSpPr>
        <a:xfrm>
          <a:off x="0" y="0"/>
          <a:ext cx="0" cy="0"/>
          <a:chOff x="0" y="0"/>
          <a:chExt cx="0" cy="0"/>
        </a:xfrm>
      </p:grpSpPr>
      <p:sp>
        <p:nvSpPr>
          <p:cNvPr id="121" name="Google Shape;121;p3"/>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3"/>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Our solution: Salama</a:t>
            </a:r>
            <a:endParaRPr/>
          </a:p>
        </p:txBody>
      </p:sp>
      <p:sp>
        <p:nvSpPr>
          <p:cNvPr id="123" name="Google Shape;123;p3"/>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A support-finding tool, not a formal reporting platform</a:t>
            </a:r>
            <a:endParaRPr/>
          </a:p>
        </p:txBody>
      </p:sp>
      <p:sp>
        <p:nvSpPr>
          <p:cNvPr id="124" name="Google Shape;124;p3"/>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126" name="Google Shape;126;p3"/>
          <p:cNvSpPr txBox="1"/>
          <p:nvPr/>
        </p:nvSpPr>
        <p:spPr>
          <a:xfrm>
            <a:off x="11064240" y="6537960"/>
            <a:ext cx="32004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3</a:t>
            </a:r>
            <a:endParaRPr/>
          </a:p>
        </p:txBody>
      </p:sp>
      <p:sp>
        <p:nvSpPr>
          <p:cNvPr id="127" name="Google Shape;127;p3"/>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3"/>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3"/>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Option 1: Browse services</a:t>
            </a:r>
            <a:endParaRPr/>
          </a:p>
        </p:txBody>
      </p:sp>
      <p:sp>
        <p:nvSpPr>
          <p:cNvPr id="130" name="Google Shape;130;p3"/>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Choose a type of support without writing a narrative.</a:t>
            </a:r>
            <a:endParaRPr/>
          </a:p>
        </p:txBody>
      </p:sp>
      <p:sp>
        <p:nvSpPr>
          <p:cNvPr id="131" name="Google Shape;131;p3"/>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3"/>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Option 2: Share an experience</a:t>
            </a:r>
            <a:endParaRPr/>
          </a:p>
        </p:txBody>
      </p:sp>
      <p:sp>
        <p:nvSpPr>
          <p:cNvPr id="134" name="Google Shape;134;p3"/>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Describe a fictional example in English or Kiswahili.</a:t>
            </a:r>
            <a:endParaRPr/>
          </a:p>
        </p:txBody>
      </p:sp>
      <p:sp>
        <p:nvSpPr>
          <p:cNvPr id="135" name="Google Shape;135;p3"/>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3"/>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3"/>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Receive relevant referrals</a:t>
            </a:r>
            <a:endParaRPr/>
          </a:p>
        </p:txBody>
      </p:sp>
      <p:sp>
        <p:nvSpPr>
          <p:cNvPr id="138" name="Google Shape;138;p3"/>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See Nairobi organisations and national helpline contacts.</a:t>
            </a:r>
            <a:endParaRPr/>
          </a:p>
        </p:txBody>
      </p:sp>
      <p:sp>
        <p:nvSpPr>
          <p:cNvPr id="139" name="Google Shape;139;p3"/>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3"/>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3"/>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Remain in control</a:t>
            </a:r>
            <a:endParaRPr/>
          </a:p>
        </p:txBody>
      </p:sp>
      <p:sp>
        <p:nvSpPr>
          <p:cNvPr id="142" name="Google Shape;142;p3"/>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Users choose what to share and can clear the input field.</a:t>
            </a:r>
            <a:endParaRPr/>
          </a:p>
        </p:txBody>
      </p:sp>
      <p:sp>
        <p:nvSpPr>
          <p:cNvPr id="143" name="Google Shape;143;p3"/>
          <p:cNvSpPr/>
          <p:nvPr/>
        </p:nvSpPr>
        <p:spPr>
          <a:xfrm>
            <a:off x="822960" y="5696712"/>
            <a:ext cx="10515600" cy="530352"/>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3"/>
          <p:cNvSpPr txBox="1"/>
          <p:nvPr/>
        </p:nvSpPr>
        <p:spPr>
          <a:xfrm>
            <a:off x="987552" y="5797296"/>
            <a:ext cx="10149840" cy="320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Salama provides information; it does not submit cases or contact organisations.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148" name="Shape 148"/>
        <p:cNvGrpSpPr/>
        <p:nvPr/>
      </p:nvGrpSpPr>
      <p:grpSpPr>
        <a:xfrm>
          <a:off x="0" y="0"/>
          <a:ext cx="0" cy="0"/>
          <a:chOff x="0" y="0"/>
          <a:chExt cx="0" cy="0"/>
        </a:xfrm>
      </p:grpSpPr>
      <p:sp>
        <p:nvSpPr>
          <p:cNvPr id="149" name="Google Shape;149;p4"/>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4"/>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What we set out to build</a:t>
            </a:r>
            <a:endParaRPr/>
          </a:p>
        </p:txBody>
      </p:sp>
      <p:sp>
        <p:nvSpPr>
          <p:cNvPr id="151" name="Google Shape;151;p4"/>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Project objectives</a:t>
            </a:r>
            <a:endParaRPr/>
          </a:p>
        </p:txBody>
      </p:sp>
      <p:sp>
        <p:nvSpPr>
          <p:cNvPr id="152" name="Google Shape;152;p4"/>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4"/>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154" name="Google Shape;154;p4"/>
          <p:cNvSpPr txBox="1"/>
          <p:nvPr/>
        </p:nvSpPr>
        <p:spPr>
          <a:xfrm>
            <a:off x="11064240" y="6537960"/>
            <a:ext cx="32004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4</a:t>
            </a:r>
            <a:endParaRPr/>
          </a:p>
        </p:txBody>
      </p:sp>
      <p:sp>
        <p:nvSpPr>
          <p:cNvPr id="155" name="Google Shape;155;p4"/>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4"/>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4"/>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Understand narratives</a:t>
            </a:r>
            <a:endParaRPr/>
          </a:p>
        </p:txBody>
      </p:sp>
      <p:sp>
        <p:nvSpPr>
          <p:cNvPr id="158" name="Google Shape;158;p4"/>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Identify potentially relevant GBV categories from text.</a:t>
            </a:r>
            <a:endParaRPr/>
          </a:p>
        </p:txBody>
      </p:sp>
      <p:sp>
        <p:nvSpPr>
          <p:cNvPr id="159" name="Google Shape;159;p4"/>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4"/>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4"/>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Support two languages</a:t>
            </a:r>
            <a:endParaRPr/>
          </a:p>
        </p:txBody>
      </p:sp>
      <p:sp>
        <p:nvSpPr>
          <p:cNvPr id="162" name="Google Shape;162;p4"/>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Accept English and Kiswahili experiences.</a:t>
            </a:r>
            <a:endParaRPr/>
          </a:p>
        </p:txBody>
      </p:sp>
      <p:sp>
        <p:nvSpPr>
          <p:cNvPr id="163" name="Google Shape;163;p4"/>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4"/>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4"/>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Connect to support</a:t>
            </a:r>
            <a:endParaRPr/>
          </a:p>
        </p:txBody>
      </p:sp>
      <p:sp>
        <p:nvSpPr>
          <p:cNvPr id="166" name="Google Shape;166;p4"/>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Map categories to practical service types.</a:t>
            </a:r>
            <a:endParaRPr/>
          </a:p>
        </p:txBody>
      </p:sp>
      <p:sp>
        <p:nvSpPr>
          <p:cNvPr id="167" name="Google Shape;167;p4"/>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4"/>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4"/>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Make it accessible</a:t>
            </a:r>
            <a:endParaRPr/>
          </a:p>
        </p:txBody>
      </p:sp>
      <p:sp>
        <p:nvSpPr>
          <p:cNvPr id="170" name="Google Shape;170;p4"/>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Build a simple, mobile-friendly web interface.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174" name="Shape 174"/>
        <p:cNvGrpSpPr/>
        <p:nvPr/>
      </p:nvGrpSpPr>
      <p:grpSpPr>
        <a:xfrm>
          <a:off x="0" y="0"/>
          <a:ext cx="0" cy="0"/>
          <a:chOff x="0" y="0"/>
          <a:chExt cx="0" cy="0"/>
        </a:xfrm>
      </p:grpSpPr>
      <p:sp>
        <p:nvSpPr>
          <p:cNvPr id="175" name="Google Shape;175;p5"/>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5"/>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The data behind Salama</a:t>
            </a:r>
            <a:endParaRPr/>
          </a:p>
        </p:txBody>
      </p:sp>
      <p:sp>
        <p:nvSpPr>
          <p:cNvPr id="177" name="Google Shape;177;p5"/>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Two types of data power the system</a:t>
            </a:r>
            <a:endParaRPr/>
          </a:p>
        </p:txBody>
      </p:sp>
      <p:sp>
        <p:nvSpPr>
          <p:cNvPr id="178" name="Google Shape;178;p5"/>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5"/>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180" name="Google Shape;180;p5"/>
          <p:cNvSpPr txBox="1"/>
          <p:nvPr/>
        </p:nvSpPr>
        <p:spPr>
          <a:xfrm>
            <a:off x="11064240" y="6537960"/>
            <a:ext cx="32004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5</a:t>
            </a:r>
            <a:endParaRPr/>
          </a:p>
        </p:txBody>
      </p:sp>
      <p:sp>
        <p:nvSpPr>
          <p:cNvPr id="181" name="Google Shape;181;p5"/>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5"/>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5"/>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Narrative examples</a:t>
            </a:r>
            <a:endParaRPr/>
          </a:p>
        </p:txBody>
      </p:sp>
      <p:sp>
        <p:nvSpPr>
          <p:cNvPr id="184" name="Google Shape;184;p5"/>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CRADLE Bench: annotated English-language text used to develop the classifier.</a:t>
            </a:r>
            <a:endParaRPr/>
          </a:p>
        </p:txBody>
      </p:sp>
      <p:sp>
        <p:nvSpPr>
          <p:cNvPr id="185" name="Google Shape;185;p5"/>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5"/>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5"/>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Support directory</a:t>
            </a:r>
            <a:endParaRPr/>
          </a:p>
        </p:txBody>
      </p:sp>
      <p:sp>
        <p:nvSpPr>
          <p:cNvPr id="188" name="Google Shape;188;p5"/>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Nairobi County GBV referral information organised into service categories.</a:t>
            </a:r>
            <a:endParaRPr/>
          </a:p>
        </p:txBody>
      </p:sp>
      <p:sp>
        <p:nvSpPr>
          <p:cNvPr id="189" name="Google Shape;189;p5"/>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5"/>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5"/>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General support fallback</a:t>
            </a:r>
            <a:endParaRPr/>
          </a:p>
        </p:txBody>
      </p:sp>
      <p:sp>
        <p:nvSpPr>
          <p:cNvPr id="192" name="Google Shape;192;p5"/>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Additional Nairobi psychosocial support resources.</a:t>
            </a:r>
            <a:endParaRPr/>
          </a:p>
        </p:txBody>
      </p:sp>
      <p:sp>
        <p:nvSpPr>
          <p:cNvPr id="193" name="Google Shape;193;p5"/>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5"/>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5"/>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National contacts</a:t>
            </a:r>
            <a:endParaRPr/>
          </a:p>
        </p:txBody>
      </p:sp>
      <p:sp>
        <p:nvSpPr>
          <p:cNvPr id="196" name="Google Shape;196;p5"/>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National GBV and emergency helplines available independently of predictions.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200" name="Shape 200"/>
        <p:cNvGrpSpPr/>
        <p:nvPr/>
      </p:nvGrpSpPr>
      <p:grpSpPr>
        <a:xfrm>
          <a:off x="0" y="0"/>
          <a:ext cx="0" cy="0"/>
          <a:chOff x="0" y="0"/>
          <a:chExt cx="0" cy="0"/>
        </a:xfrm>
      </p:grpSpPr>
      <p:sp>
        <p:nvSpPr>
          <p:cNvPr id="201" name="Google Shape;201;h61fb1e9ae807ce97_0_0"/>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h61fb1e9ae807ce97_0_0"/>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3000">
                <a:solidFill>
                  <a:srgbClr val="48404E"/>
                </a:solidFill>
              </a:rPr>
              <a:t>Category </a:t>
            </a:r>
            <a:r>
              <a:rPr b="1" lang="en-US" sz="3000">
                <a:solidFill>
                  <a:srgbClr val="48404E"/>
                </a:solidFill>
              </a:rPr>
              <a:t>Distribution</a:t>
            </a:r>
            <a:endParaRPr/>
          </a:p>
        </p:txBody>
      </p:sp>
      <p:sp>
        <p:nvSpPr>
          <p:cNvPr id="203" name="Google Shape;203;h61fb1e9ae807ce97_0_0"/>
          <p:cNvSpPr txBox="1"/>
          <p:nvPr/>
        </p:nvSpPr>
        <p:spPr>
          <a:xfrm>
            <a:off x="786384" y="1042415"/>
            <a:ext cx="10515600" cy="307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t/>
            </a:r>
            <a:endParaRPr/>
          </a:p>
        </p:txBody>
      </p:sp>
      <p:sp>
        <p:nvSpPr>
          <p:cNvPr id="204" name="Google Shape;204;h61fb1e9ae807ce97_0_0"/>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h61fb1e9ae807ce97_0_0"/>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206" name="Google Shape;206;h61fb1e9ae807ce97_0_0"/>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6</a:t>
            </a:r>
            <a:endParaRPr/>
          </a:p>
        </p:txBody>
      </p:sp>
      <p:sp>
        <p:nvSpPr>
          <p:cNvPr id="207" name="Google Shape;207;h61fb1e9ae807ce97_0_0"/>
          <p:cNvSpPr/>
          <p:nvPr/>
        </p:nvSpPr>
        <p:spPr>
          <a:xfrm>
            <a:off x="822950" y="1042422"/>
            <a:ext cx="10698600" cy="4931700"/>
          </a:xfrm>
          <a:prstGeom prst="roundRect">
            <a:avLst>
              <a:gd fmla="val 16667"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08" name="Google Shape;208;h61fb1e9ae807ce97_0_0"/>
          <p:cNvPicPr preferRelativeResize="0"/>
          <p:nvPr/>
        </p:nvPicPr>
        <p:blipFill>
          <a:blip r:embed="rId3">
            <a:alphaModFix/>
          </a:blip>
          <a:stretch>
            <a:fillRect/>
          </a:stretch>
        </p:blipFill>
        <p:spPr>
          <a:xfrm>
            <a:off x="1298925" y="1285875"/>
            <a:ext cx="9907175" cy="4286250"/>
          </a:xfrm>
          <a:prstGeom prst="rect">
            <a:avLst/>
          </a:prstGeom>
          <a:solidFill>
            <a:srgbClr val="FFFFFF"/>
          </a:solidFill>
          <a:ln>
            <a:noFill/>
          </a:ln>
          <a:effectLst>
            <a:outerShdw blurRad="40000" rotWithShape="0" dir="5400000" dist="23000">
              <a:srgbClr val="000000">
                <a:alpha val="349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212" name="Shape 212"/>
        <p:cNvGrpSpPr/>
        <p:nvPr/>
      </p:nvGrpSpPr>
      <p:grpSpPr>
        <a:xfrm>
          <a:off x="0" y="0"/>
          <a:ext cx="0" cy="0"/>
          <a:chOff x="0" y="0"/>
          <a:chExt cx="0" cy="0"/>
        </a:xfrm>
      </p:grpSpPr>
      <p:sp>
        <p:nvSpPr>
          <p:cNvPr id="213" name="Google Shape;213;p6"/>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6"/>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Preparing the data</a:t>
            </a:r>
            <a:endParaRPr/>
          </a:p>
        </p:txBody>
      </p:sp>
      <p:sp>
        <p:nvSpPr>
          <p:cNvPr id="215" name="Google Shape;215;p6"/>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Turning raw information into something models can use</a:t>
            </a:r>
            <a:endParaRPr/>
          </a:p>
        </p:txBody>
      </p:sp>
      <p:sp>
        <p:nvSpPr>
          <p:cNvPr id="216" name="Google Shape;216;p6"/>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6"/>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218" name="Google Shape;218;p6"/>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7</a:t>
            </a:r>
            <a:endParaRPr/>
          </a:p>
        </p:txBody>
      </p:sp>
      <p:sp>
        <p:nvSpPr>
          <p:cNvPr id="219" name="Google Shape;219;p6"/>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6"/>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6"/>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1  Inspect</a:t>
            </a:r>
            <a:endParaRPr/>
          </a:p>
        </p:txBody>
      </p:sp>
      <p:sp>
        <p:nvSpPr>
          <p:cNvPr id="222" name="Google Shape;222;p6"/>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Review columns, labels, missing values and duplicates.</a:t>
            </a:r>
            <a:endParaRPr/>
          </a:p>
        </p:txBody>
      </p:sp>
      <p:sp>
        <p:nvSpPr>
          <p:cNvPr id="223" name="Google Shape;223;p6"/>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6"/>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6"/>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2  Organise</a:t>
            </a:r>
            <a:endParaRPr/>
          </a:p>
        </p:txBody>
      </p:sp>
      <p:sp>
        <p:nvSpPr>
          <p:cNvPr id="226" name="Google Shape;226;p6"/>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Prepare text and encode multiple category labels.</a:t>
            </a:r>
            <a:endParaRPr/>
          </a:p>
        </p:txBody>
      </p:sp>
      <p:sp>
        <p:nvSpPr>
          <p:cNvPr id="227" name="Google Shape;227;p6"/>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6"/>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6"/>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3  Separate</a:t>
            </a:r>
            <a:endParaRPr/>
          </a:p>
        </p:txBody>
      </p:sp>
      <p:sp>
        <p:nvSpPr>
          <p:cNvPr id="230" name="Google Shape;230;p6"/>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Use training and evaluation data to assess the model.</a:t>
            </a:r>
            <a:endParaRPr/>
          </a:p>
        </p:txBody>
      </p:sp>
      <p:sp>
        <p:nvSpPr>
          <p:cNvPr id="231" name="Google Shape;231;p6"/>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6"/>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6"/>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4  Structure resources</a:t>
            </a:r>
            <a:endParaRPr/>
          </a:p>
        </p:txBody>
      </p:sp>
      <p:sp>
        <p:nvSpPr>
          <p:cNvPr id="234" name="Google Shape;234;p6"/>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Standardise support types and organisation contact records.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238" name="Shape 238"/>
        <p:cNvGrpSpPr/>
        <p:nvPr/>
      </p:nvGrpSpPr>
      <p:grpSpPr>
        <a:xfrm>
          <a:off x="0" y="0"/>
          <a:ext cx="0" cy="0"/>
          <a:chOff x="0" y="0"/>
          <a:chExt cx="0" cy="0"/>
        </a:xfrm>
      </p:grpSpPr>
      <p:sp>
        <p:nvSpPr>
          <p:cNvPr id="239" name="Google Shape;239;hef299680b987ec2_1_0"/>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hef299680b987ec2_1_0"/>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T</a:t>
            </a:r>
            <a:r>
              <a:rPr b="1" lang="en-US" sz="3000">
                <a:solidFill>
                  <a:srgbClr val="48404E"/>
                </a:solidFill>
              </a:rPr>
              <a:t>ext Preprocessing</a:t>
            </a:r>
            <a:endParaRPr/>
          </a:p>
        </p:txBody>
      </p:sp>
      <p:sp>
        <p:nvSpPr>
          <p:cNvPr id="241" name="Google Shape;241;hef299680b987ec2_1_0"/>
          <p:cNvSpPr txBox="1"/>
          <p:nvPr/>
        </p:nvSpPr>
        <p:spPr>
          <a:xfrm>
            <a:off x="786384" y="1042415"/>
            <a:ext cx="105156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500">
                <a:solidFill>
                  <a:srgbClr val="675E6D"/>
                </a:solidFill>
              </a:rPr>
              <a:t>Preparing raw narratives for machine learning</a:t>
            </a:r>
            <a:endParaRPr/>
          </a:p>
        </p:txBody>
      </p:sp>
      <p:sp>
        <p:nvSpPr>
          <p:cNvPr id="242" name="Google Shape;242;hef299680b987ec2_1_0"/>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hef299680b987ec2_1_0"/>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244" name="Google Shape;244;hef299680b987ec2_1_0"/>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8</a:t>
            </a:r>
            <a:endParaRPr/>
          </a:p>
        </p:txBody>
      </p:sp>
      <p:sp>
        <p:nvSpPr>
          <p:cNvPr id="245" name="Google Shape;245;hef299680b987ec2_1_0"/>
          <p:cNvSpPr/>
          <p:nvPr/>
        </p:nvSpPr>
        <p:spPr>
          <a:xfrm>
            <a:off x="822951" y="1828800"/>
            <a:ext cx="59400" cy="21039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hef299680b987ec2_1_0"/>
          <p:cNvSpPr txBox="1"/>
          <p:nvPr/>
        </p:nvSpPr>
        <p:spPr>
          <a:xfrm>
            <a:off x="930300" y="1828725"/>
            <a:ext cx="9916200" cy="3575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Char char="●"/>
            </a:pPr>
            <a:r>
              <a:rPr lang="en-US" sz="1700">
                <a:solidFill>
                  <a:schemeClr val="dk1"/>
                </a:solidFill>
              </a:rPr>
              <a:t>Removed duplicate records.</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Checked for missing records.</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Cleaned text by removing annotation instructions.</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Created binary GBV labels for multi-label classification.</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Generated GBV event status labels.</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Tokenised text for DistilBERT.</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Applied chunking for narratives longer than 512 tokens.</a:t>
            </a:r>
            <a:endParaRPr sz="1700">
              <a:solidFill>
                <a:schemeClr val="dk1"/>
              </a:solidFill>
            </a:endParaRPr>
          </a:p>
        </p:txBody>
      </p:sp>
      <p:sp>
        <p:nvSpPr>
          <p:cNvPr id="247" name="Google Shape;247;hef299680b987ec2_1_0"/>
          <p:cNvSpPr/>
          <p:nvPr/>
        </p:nvSpPr>
        <p:spPr>
          <a:xfrm>
            <a:off x="6973175" y="936675"/>
            <a:ext cx="3987300" cy="4704900"/>
          </a:xfrm>
          <a:prstGeom prst="roundRect">
            <a:avLst>
              <a:gd fmla="val 16667" name="adj"/>
            </a:avLst>
          </a:prstGeom>
          <a:solidFill>
            <a:srgbClr val="E8E1EC"/>
          </a:solidFill>
          <a:ln>
            <a:noFill/>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8" name="Google Shape;248;hef299680b987ec2_1_0"/>
          <p:cNvSpPr txBox="1"/>
          <p:nvPr/>
        </p:nvSpPr>
        <p:spPr>
          <a:xfrm>
            <a:off x="7144059" y="1084775"/>
            <a:ext cx="4932900" cy="44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Raw Narratives</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Cleaning</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Label Encoding</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Tokenisation</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Chunking (&gt;512 tokens)</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Training Dataset</a:t>
            </a:r>
            <a:endParaRPr sz="2300">
              <a:solidFill>
                <a:schemeClr val="dk1"/>
              </a:solidFill>
              <a:latin typeface="Calibri"/>
              <a:ea typeface="Calibri"/>
              <a:cs typeface="Calibri"/>
              <a:sym typeface="Calibri"/>
            </a:endParaRPr>
          </a:p>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252" name="Shape 252"/>
        <p:cNvGrpSpPr/>
        <p:nvPr/>
      </p:nvGrpSpPr>
      <p:grpSpPr>
        <a:xfrm>
          <a:off x="0" y="0"/>
          <a:ext cx="0" cy="0"/>
          <a:chOff x="0" y="0"/>
          <a:chExt cx="0" cy="0"/>
        </a:xfrm>
      </p:grpSpPr>
      <p:sp>
        <p:nvSpPr>
          <p:cNvPr id="253" name="Google Shape;253;hef299680b987ec2_1_39"/>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hef299680b987ec2_1_39"/>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3000">
                <a:solidFill>
                  <a:srgbClr val="48404E"/>
                </a:solidFill>
              </a:rPr>
              <a:t>The Baseline model TF-IDF with Logistic Regression</a:t>
            </a:r>
            <a:endParaRPr/>
          </a:p>
        </p:txBody>
      </p:sp>
      <p:sp>
        <p:nvSpPr>
          <p:cNvPr id="255" name="Google Shape;255;hef299680b987ec2_1_39"/>
          <p:cNvSpPr txBox="1"/>
          <p:nvPr/>
        </p:nvSpPr>
        <p:spPr>
          <a:xfrm>
            <a:off x="786384" y="1042415"/>
            <a:ext cx="10515600" cy="1258200"/>
          </a:xfrm>
          <a:prstGeom prst="rect">
            <a:avLst/>
          </a:prstGeom>
          <a:noFill/>
          <a:ln>
            <a:noFill/>
          </a:ln>
        </p:spPr>
        <p:txBody>
          <a:bodyPr anchorCtr="0" anchor="t" bIns="45700" lIns="45700" spcFirstLastPara="1" rIns="45700" wrap="square" tIns="45700">
            <a:spAutoFit/>
          </a:bodyPr>
          <a:lstStyle/>
          <a:p>
            <a:pPr indent="0" lvl="0" marL="400050" marR="381000" rtl="0" algn="l">
              <a:lnSpc>
                <a:spcPct val="115000"/>
              </a:lnSpc>
              <a:spcBef>
                <a:spcPts val="1200"/>
              </a:spcBef>
              <a:spcAft>
                <a:spcPts val="0"/>
              </a:spcAft>
              <a:buClr>
                <a:schemeClr val="dk1"/>
              </a:buClr>
              <a:buSzPts val="1100"/>
              <a:buFont typeface="Arial"/>
              <a:buNone/>
            </a:pPr>
            <a:r>
              <a:rPr lang="en-US" sz="1500">
                <a:solidFill>
                  <a:schemeClr val="dk1"/>
                </a:solidFill>
              </a:rPr>
              <a:t>TF-IDF converts text into numbers by identifying the words that are most important in each narrative. Common words receive low importance, while meaningful words receive higher importance. These numerical features are then used by Logistic Regression to classify the narrative.</a:t>
            </a:r>
            <a:endParaRPr sz="1500">
              <a:solidFill>
                <a:schemeClr val="dk1"/>
              </a:solidFill>
            </a:endParaRPr>
          </a:p>
          <a:p>
            <a:pPr indent="0" lvl="0" marL="0" marR="0" rtl="0" algn="l">
              <a:spcBef>
                <a:spcPts val="1200"/>
              </a:spcBef>
              <a:spcAft>
                <a:spcPts val="0"/>
              </a:spcAft>
              <a:buNone/>
            </a:pPr>
            <a:r>
              <a:t/>
            </a:r>
            <a:endParaRPr/>
          </a:p>
        </p:txBody>
      </p:sp>
      <p:sp>
        <p:nvSpPr>
          <p:cNvPr id="256" name="Google Shape;256;hef299680b987ec2_1_39"/>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hef299680b987ec2_1_39"/>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258" name="Google Shape;258;hef299680b987ec2_1_39"/>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9</a:t>
            </a:r>
            <a:endParaRPr sz="900">
              <a:solidFill>
                <a:srgbClr val="675E6D"/>
              </a:solidFill>
            </a:endParaRPr>
          </a:p>
        </p:txBody>
      </p:sp>
      <p:sp>
        <p:nvSpPr>
          <p:cNvPr id="259" name="Google Shape;259;hef299680b987ec2_1_39"/>
          <p:cNvSpPr/>
          <p:nvPr/>
        </p:nvSpPr>
        <p:spPr>
          <a:xfrm>
            <a:off x="822956" y="1828800"/>
            <a:ext cx="59400" cy="34434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hef299680b987ec2_1_39"/>
          <p:cNvSpPr/>
          <p:nvPr/>
        </p:nvSpPr>
        <p:spPr>
          <a:xfrm>
            <a:off x="822960" y="5696712"/>
            <a:ext cx="10515600" cy="530400"/>
          </a:xfrm>
          <a:prstGeom prst="roundRect">
            <a:avLst>
              <a:gd fmla="val 16667" name="adj"/>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It gives more importance to words that help distinguish one document from another, making it easier for the model to identify patterns. </a:t>
            </a:r>
            <a:endParaRPr b="0" i="0" sz="1800" u="none" cap="none" strike="noStrike">
              <a:solidFill>
                <a:schemeClr val="dk1"/>
              </a:solidFill>
              <a:latin typeface="Calibri"/>
              <a:ea typeface="Calibri"/>
              <a:cs typeface="Calibri"/>
              <a:sym typeface="Calibri"/>
            </a:endParaRPr>
          </a:p>
        </p:txBody>
      </p:sp>
      <p:sp>
        <p:nvSpPr>
          <p:cNvPr id="261" name="Google Shape;261;hef299680b987ec2_1_39"/>
          <p:cNvSpPr/>
          <p:nvPr/>
        </p:nvSpPr>
        <p:spPr>
          <a:xfrm>
            <a:off x="1129075" y="1859425"/>
            <a:ext cx="10149900" cy="3544800"/>
          </a:xfrm>
          <a:prstGeom prst="roundRect">
            <a:avLst>
              <a:gd fmla="val 16667" name="adj"/>
            </a:avLst>
          </a:prstGeom>
          <a:solidFill>
            <a:schemeClr val="lt1"/>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2" name="Google Shape;262;hef299680b987ec2_1_39"/>
          <p:cNvSpPr txBox="1"/>
          <p:nvPr/>
        </p:nvSpPr>
        <p:spPr>
          <a:xfrm>
            <a:off x="1436650" y="1961950"/>
            <a:ext cx="9627600" cy="349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500">
                <a:solidFill>
                  <a:schemeClr val="dk1"/>
                </a:solidFill>
              </a:rPr>
              <a:t>Step 1: Term Frequency.(TF)</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TF looks at </a:t>
            </a:r>
            <a:r>
              <a:rPr b="1" lang="en-US" sz="1500">
                <a:solidFill>
                  <a:schemeClr val="dk1"/>
                </a:solidFill>
              </a:rPr>
              <a:t>how often a word appears in one narrative</a:t>
            </a:r>
            <a:r>
              <a:rPr lang="en-US" sz="1500">
                <a:solidFill>
                  <a:schemeClr val="dk1"/>
                </a:solidFill>
              </a:rPr>
              <a:t>.</a:t>
            </a: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Step 2: Inverse Document Frequency (IDF)</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Now TF-IDF asks:</a:t>
            </a:r>
            <a:endParaRPr sz="15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sz="1500">
                <a:solidFill>
                  <a:schemeClr val="dk1"/>
                </a:solidFill>
              </a:rPr>
              <a:t>"Does this word appear in almost every narrative, or is it relatively unique?"</a:t>
            </a:r>
            <a:endParaRPr b="1" sz="15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US" sz="1500">
                <a:solidFill>
                  <a:schemeClr val="dk1"/>
                </a:solidFill>
              </a:rPr>
              <a:t>A word gets a </a:t>
            </a:r>
            <a:r>
              <a:rPr b="1" lang="en-US" sz="1500">
                <a:solidFill>
                  <a:schemeClr val="dk1"/>
                </a:solidFill>
              </a:rPr>
              <a:t>high TF-IDF score</a:t>
            </a:r>
            <a:r>
              <a:rPr lang="en-US" sz="1500">
                <a:solidFill>
                  <a:schemeClr val="dk1"/>
                </a:solidFill>
              </a:rPr>
              <a:t> if it:</a:t>
            </a:r>
            <a:endParaRPr sz="1500">
              <a:solidFill>
                <a:schemeClr val="dk1"/>
              </a:solidFill>
            </a:endParaRPr>
          </a:p>
          <a:p>
            <a:pPr indent="-323850" lvl="0" marL="457200" rtl="0" algn="l">
              <a:lnSpc>
                <a:spcPct val="100000"/>
              </a:lnSpc>
              <a:spcBef>
                <a:spcPts val="1200"/>
              </a:spcBef>
              <a:spcAft>
                <a:spcPts val="0"/>
              </a:spcAft>
              <a:buClr>
                <a:schemeClr val="dk1"/>
              </a:buClr>
              <a:buSzPts val="1500"/>
              <a:buChar char="●"/>
            </a:pPr>
            <a:r>
              <a:rPr lang="en-US" sz="1500">
                <a:solidFill>
                  <a:schemeClr val="dk1"/>
                </a:solidFill>
              </a:rPr>
              <a:t>appears frequently in the current narrative, </a:t>
            </a:r>
            <a:r>
              <a:rPr b="1" lang="en-US" sz="1500">
                <a:solidFill>
                  <a:schemeClr val="dk1"/>
                </a:solidFill>
              </a:rPr>
              <a:t>and</a:t>
            </a:r>
            <a:endParaRPr b="1"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US" sz="1500">
                <a:solidFill>
                  <a:schemeClr val="dk1"/>
                </a:solidFill>
              </a:rPr>
              <a:t>does </a:t>
            </a:r>
            <a:r>
              <a:rPr b="1" lang="en-US" sz="1500">
                <a:solidFill>
                  <a:schemeClr val="dk1"/>
                </a:solidFill>
              </a:rPr>
              <a:t>not</a:t>
            </a:r>
            <a:r>
              <a:rPr lang="en-US" sz="1500">
                <a:solidFill>
                  <a:schemeClr val="dk1"/>
                </a:solidFill>
              </a:rPr>
              <a:t> appear in most of the other narratives.</a:t>
            </a:r>
            <a:endParaRPr sz="15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US" sz="1500">
                <a:solidFill>
                  <a:schemeClr val="dk1"/>
                </a:solidFill>
              </a:rPr>
              <a:t>These scores become numbers that represent the narrative.</a:t>
            </a:r>
            <a:endParaRPr sz="1500">
              <a:solidFill>
                <a:schemeClr val="dk1"/>
              </a:solidFill>
            </a:endParaRPr>
          </a:p>
          <a:p>
            <a:pPr indent="0" lvl="0" marL="0" rtl="0" algn="l">
              <a:spcBef>
                <a:spcPts val="120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266" name="Shape 266"/>
        <p:cNvGrpSpPr/>
        <p:nvPr/>
      </p:nvGrpSpPr>
      <p:grpSpPr>
        <a:xfrm>
          <a:off x="0" y="0"/>
          <a:ext cx="0" cy="0"/>
          <a:chOff x="0" y="0"/>
          <a:chExt cx="0" cy="0"/>
        </a:xfrm>
      </p:grpSpPr>
      <p:sp>
        <p:nvSpPr>
          <p:cNvPr id="267" name="Google Shape;267;h61fb1e9ae807ce97_0_26"/>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h61fb1e9ae807ce97_0_26"/>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3000">
                <a:solidFill>
                  <a:srgbClr val="48404E"/>
                </a:solidFill>
              </a:rPr>
              <a:t>The Baseline model TF-IDF with Logistic Regression</a:t>
            </a:r>
            <a:endParaRPr/>
          </a:p>
        </p:txBody>
      </p:sp>
      <p:sp>
        <p:nvSpPr>
          <p:cNvPr id="269" name="Google Shape;269;h61fb1e9ae807ce97_0_26"/>
          <p:cNvSpPr txBox="1"/>
          <p:nvPr/>
        </p:nvSpPr>
        <p:spPr>
          <a:xfrm>
            <a:off x="786384" y="1042415"/>
            <a:ext cx="10515600" cy="307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a:t>How our model performed</a:t>
            </a:r>
            <a:endParaRPr/>
          </a:p>
        </p:txBody>
      </p:sp>
      <p:sp>
        <p:nvSpPr>
          <p:cNvPr id="270" name="Google Shape;270;h61fb1e9ae807ce97_0_26"/>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h61fb1e9ae807ce97_0_26"/>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272" name="Google Shape;272;h61fb1e9ae807ce97_0_26"/>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10</a:t>
            </a:r>
            <a:endParaRPr sz="900">
              <a:solidFill>
                <a:srgbClr val="675E6D"/>
              </a:solidFill>
            </a:endParaRPr>
          </a:p>
        </p:txBody>
      </p:sp>
      <p:pic>
        <p:nvPicPr>
          <p:cNvPr id="273" name="Google Shape;273;h61fb1e9ae807ce97_0_26"/>
          <p:cNvPicPr preferRelativeResize="0"/>
          <p:nvPr/>
        </p:nvPicPr>
        <p:blipFill rotWithShape="1">
          <a:blip r:embed="rId3">
            <a:alphaModFix/>
          </a:blip>
          <a:srcRect b="0" l="0" r="-10473" t="0"/>
          <a:stretch/>
        </p:blipFill>
        <p:spPr>
          <a:xfrm>
            <a:off x="502931" y="1452628"/>
            <a:ext cx="5838825" cy="3781425"/>
          </a:xfrm>
          <a:prstGeom prst="rect">
            <a:avLst/>
          </a:prstGeom>
          <a:noFill/>
          <a:ln>
            <a:noFill/>
          </a:ln>
        </p:spPr>
      </p:pic>
      <p:sp>
        <p:nvSpPr>
          <p:cNvPr id="274" name="Google Shape;274;h61fb1e9ae807ce97_0_26"/>
          <p:cNvSpPr txBox="1"/>
          <p:nvPr/>
        </p:nvSpPr>
        <p:spPr>
          <a:xfrm>
            <a:off x="445975" y="6076950"/>
            <a:ext cx="5274000" cy="307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a:t>Binary Classification</a:t>
            </a:r>
            <a:endParaRPr/>
          </a:p>
        </p:txBody>
      </p:sp>
      <p:pic>
        <p:nvPicPr>
          <p:cNvPr id="275" name="Google Shape;275;h61fb1e9ae807ce97_0_26"/>
          <p:cNvPicPr preferRelativeResize="0"/>
          <p:nvPr/>
        </p:nvPicPr>
        <p:blipFill>
          <a:blip r:embed="rId4">
            <a:alphaModFix/>
          </a:blip>
          <a:stretch>
            <a:fillRect/>
          </a:stretch>
        </p:blipFill>
        <p:spPr>
          <a:xfrm>
            <a:off x="6027975" y="3790188"/>
            <a:ext cx="5545126" cy="2087900"/>
          </a:xfrm>
          <a:prstGeom prst="rect">
            <a:avLst/>
          </a:prstGeom>
          <a:noFill/>
          <a:ln>
            <a:noFill/>
          </a:ln>
        </p:spPr>
      </p:pic>
      <p:sp>
        <p:nvSpPr>
          <p:cNvPr id="276" name="Google Shape;276;h61fb1e9ae807ce97_0_26"/>
          <p:cNvSpPr txBox="1"/>
          <p:nvPr/>
        </p:nvSpPr>
        <p:spPr>
          <a:xfrm>
            <a:off x="6027975" y="6076950"/>
            <a:ext cx="5274000" cy="307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a:t>Multi Label</a:t>
            </a:r>
            <a:r>
              <a:rPr lang="en-US"/>
              <a:t> Classification</a:t>
            </a:r>
            <a:endParaRPr/>
          </a:p>
        </p:txBody>
      </p:sp>
      <p:pic>
        <p:nvPicPr>
          <p:cNvPr id="277" name="Google Shape;277;h61fb1e9ae807ce97_0_26"/>
          <p:cNvPicPr preferRelativeResize="0"/>
          <p:nvPr/>
        </p:nvPicPr>
        <p:blipFill>
          <a:blip r:embed="rId5">
            <a:alphaModFix/>
          </a:blip>
          <a:stretch>
            <a:fillRect/>
          </a:stretch>
        </p:blipFill>
        <p:spPr>
          <a:xfrm>
            <a:off x="5947775" y="1452625"/>
            <a:ext cx="5625325" cy="2087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281" name="Shape 281"/>
        <p:cNvGrpSpPr/>
        <p:nvPr/>
      </p:nvGrpSpPr>
      <p:grpSpPr>
        <a:xfrm>
          <a:off x="0" y="0"/>
          <a:ext cx="0" cy="0"/>
          <a:chOff x="0" y="0"/>
          <a:chExt cx="0" cy="0"/>
        </a:xfrm>
      </p:grpSpPr>
      <p:sp>
        <p:nvSpPr>
          <p:cNvPr id="282" name="Google Shape;282;hef299680b987ec2_1_73"/>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hef299680b987ec2_1_73"/>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3000">
                <a:solidFill>
                  <a:srgbClr val="48404E"/>
                </a:solidFill>
              </a:rPr>
              <a:t>DistilBERT</a:t>
            </a:r>
            <a:endParaRPr/>
          </a:p>
        </p:txBody>
      </p:sp>
      <p:sp>
        <p:nvSpPr>
          <p:cNvPr id="284" name="Google Shape;284;hef299680b987ec2_1_73"/>
          <p:cNvSpPr txBox="1"/>
          <p:nvPr/>
        </p:nvSpPr>
        <p:spPr>
          <a:xfrm>
            <a:off x="822959" y="892415"/>
            <a:ext cx="10515600" cy="9696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US" sz="1500">
                <a:solidFill>
                  <a:srgbClr val="675E6D"/>
                </a:solidFill>
              </a:rPr>
              <a:t>Why DistilBERT?</a:t>
            </a:r>
            <a:endParaRPr b="1" sz="1500">
              <a:solidFill>
                <a:srgbClr val="675E6D"/>
              </a:solidFill>
            </a:endParaRPr>
          </a:p>
          <a:p>
            <a:pPr indent="0" lvl="0" marL="0" rtl="0" algn="l">
              <a:spcBef>
                <a:spcPts val="0"/>
              </a:spcBef>
              <a:spcAft>
                <a:spcPts val="0"/>
              </a:spcAft>
              <a:buNone/>
            </a:pPr>
            <a:r>
              <a:rPr lang="en-US">
                <a:solidFill>
                  <a:srgbClr val="675E6D"/>
                </a:solidFill>
              </a:rPr>
              <a:t>Unlike TF-IDF, which identifies important words, DistilBERT reads the entire sentence to understand its </a:t>
            </a:r>
            <a:r>
              <a:rPr b="1" lang="en-US">
                <a:solidFill>
                  <a:srgbClr val="675E6D"/>
                </a:solidFill>
              </a:rPr>
              <a:t>context </a:t>
            </a:r>
            <a:r>
              <a:rPr lang="en-US">
                <a:solidFill>
                  <a:srgbClr val="675E6D"/>
                </a:solidFill>
              </a:rPr>
              <a:t>and </a:t>
            </a:r>
            <a:r>
              <a:rPr b="1" lang="en-US">
                <a:solidFill>
                  <a:srgbClr val="675E6D"/>
                </a:solidFill>
              </a:rPr>
              <a:t>meaning</a:t>
            </a:r>
            <a:r>
              <a:rPr lang="en-US">
                <a:solidFill>
                  <a:srgbClr val="675E6D"/>
                </a:solidFill>
              </a:rPr>
              <a:t>. It converts words into numerical embeddings, analyses how they relate to one another using transformer layers, and then predicts one or more GBV categories based on the overall meaning of the narrative.</a:t>
            </a:r>
            <a:endParaRPr>
              <a:solidFill>
                <a:srgbClr val="675E6D"/>
              </a:solidFill>
            </a:endParaRPr>
          </a:p>
        </p:txBody>
      </p:sp>
      <p:sp>
        <p:nvSpPr>
          <p:cNvPr id="285" name="Google Shape;285;hef299680b987ec2_1_73"/>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hef299680b987ec2_1_73"/>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287" name="Google Shape;287;hef299680b987ec2_1_73"/>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11</a:t>
            </a:r>
            <a:endParaRPr/>
          </a:p>
        </p:txBody>
      </p:sp>
      <p:sp>
        <p:nvSpPr>
          <p:cNvPr id="288" name="Google Shape;288;hef299680b987ec2_1_73"/>
          <p:cNvSpPr/>
          <p:nvPr/>
        </p:nvSpPr>
        <p:spPr>
          <a:xfrm>
            <a:off x="822956" y="1828800"/>
            <a:ext cx="59400" cy="34434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hef299680b987ec2_1_73"/>
          <p:cNvSpPr/>
          <p:nvPr/>
        </p:nvSpPr>
        <p:spPr>
          <a:xfrm>
            <a:off x="822960" y="5696712"/>
            <a:ext cx="10515600" cy="530400"/>
          </a:xfrm>
          <a:prstGeom prst="roundRect">
            <a:avLst>
              <a:gd fmla="val 16667" name="adj"/>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00000"/>
              </a:lnSpc>
              <a:spcBef>
                <a:spcPts val="1200"/>
              </a:spcBef>
              <a:spcAft>
                <a:spcPts val="0"/>
              </a:spcAft>
              <a:buSzPts val="1100"/>
              <a:buNone/>
            </a:pPr>
            <a:r>
              <a:t/>
            </a:r>
            <a:endParaRPr sz="18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US" sz="1500">
                <a:solidFill>
                  <a:schemeClr val="dk1"/>
                </a:solidFill>
              </a:rPr>
              <a:t>DistilBERT</a:t>
            </a:r>
            <a:r>
              <a:rPr lang="en-US" sz="1500">
                <a:solidFill>
                  <a:schemeClr val="dk1"/>
                </a:solidFill>
              </a:rPr>
              <a:t> understands </a:t>
            </a:r>
            <a:r>
              <a:rPr b="1" lang="en-US" sz="1500">
                <a:solidFill>
                  <a:schemeClr val="dk1"/>
                </a:solidFill>
              </a:rPr>
              <a:t>meaning</a:t>
            </a:r>
            <a:r>
              <a:rPr lang="en-US" sz="1500">
                <a:solidFill>
                  <a:schemeClr val="dk1"/>
                </a:solidFill>
              </a:rPr>
              <a:t>.</a:t>
            </a:r>
            <a:endParaRPr sz="1500">
              <a:solidFill>
                <a:schemeClr val="dk1"/>
              </a:solidFill>
            </a:endParaRPr>
          </a:p>
          <a:p>
            <a:pPr indent="0" lvl="0" marL="0" marR="0" rtl="0" algn="l">
              <a:spcBef>
                <a:spcPts val="1200"/>
              </a:spcBef>
              <a:spcAft>
                <a:spcPts val="0"/>
              </a:spcAft>
              <a:buNone/>
            </a:pPr>
            <a:r>
              <a:t/>
            </a:r>
            <a:endParaRPr sz="1800">
              <a:solidFill>
                <a:schemeClr val="dk1"/>
              </a:solidFill>
              <a:latin typeface="Calibri"/>
              <a:ea typeface="Calibri"/>
              <a:cs typeface="Calibri"/>
              <a:sym typeface="Calibri"/>
            </a:endParaRPr>
          </a:p>
        </p:txBody>
      </p:sp>
      <p:sp>
        <p:nvSpPr>
          <p:cNvPr id="290" name="Google Shape;290;hef299680b987ec2_1_73"/>
          <p:cNvSpPr/>
          <p:nvPr/>
        </p:nvSpPr>
        <p:spPr>
          <a:xfrm>
            <a:off x="1129075" y="1859425"/>
            <a:ext cx="10149900" cy="35448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1" name="Google Shape;291;hef299680b987ec2_1_73"/>
          <p:cNvSpPr txBox="1"/>
          <p:nvPr/>
        </p:nvSpPr>
        <p:spPr>
          <a:xfrm>
            <a:off x="1436650" y="1961950"/>
            <a:ext cx="2620200" cy="34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Narrative</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Tokenisation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Word Embeddings</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DistilBERT</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(Self-Attention)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Classification Head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GBV Category Predictions</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92" name="Google Shape;292;hef299680b987ec2_1_73"/>
          <p:cNvSpPr txBox="1"/>
          <p:nvPr/>
        </p:nvSpPr>
        <p:spPr>
          <a:xfrm>
            <a:off x="4672000" y="2041700"/>
            <a:ext cx="6299700" cy="32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How DistilBERT works:</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Splits the input narrative into smaller pieces called </a:t>
            </a:r>
            <a:r>
              <a:rPr b="1" lang="en-US" sz="1500">
                <a:solidFill>
                  <a:schemeClr val="dk1"/>
                </a:solidFill>
              </a:rPr>
              <a:t>tokens</a:t>
            </a:r>
            <a:r>
              <a:rPr lang="en-US" sz="1500">
                <a:solidFill>
                  <a:schemeClr val="dk1"/>
                </a:solidFill>
              </a:rPr>
              <a: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Converts each token into numerical </a:t>
            </a:r>
            <a:r>
              <a:rPr b="1" lang="en-US" sz="1500">
                <a:solidFill>
                  <a:schemeClr val="dk1"/>
                </a:solidFill>
              </a:rPr>
              <a:t>embeddings</a:t>
            </a:r>
            <a:r>
              <a:rPr lang="en-US" sz="1500">
                <a:solidFill>
                  <a:schemeClr val="dk1"/>
                </a:solidFill>
              </a:rPr>
              <a: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Uses </a:t>
            </a:r>
            <a:r>
              <a:rPr b="1" lang="en-US" sz="1500">
                <a:solidFill>
                  <a:schemeClr val="dk1"/>
                </a:solidFill>
              </a:rPr>
              <a:t>self-attention</a:t>
            </a:r>
            <a:r>
              <a:rPr lang="en-US" sz="1500">
                <a:solidFill>
                  <a:schemeClr val="dk1"/>
                </a:solidFill>
              </a:rPr>
              <a:t> to understand the relationship between words and the overall context of the sentence.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Generates a contextual representation of the narrative.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Predicts the probability of each GBV category.</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Applies predefined thresholds to determine the final GBV category predictions.</a:t>
            </a:r>
            <a:endParaRPr sz="1500">
              <a:solidFill>
                <a:schemeClr val="dk1"/>
              </a:solidFill>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296" name="Shape 296"/>
        <p:cNvGrpSpPr/>
        <p:nvPr/>
      </p:nvGrpSpPr>
      <p:grpSpPr>
        <a:xfrm>
          <a:off x="0" y="0"/>
          <a:ext cx="0" cy="0"/>
          <a:chOff x="0" y="0"/>
          <a:chExt cx="0" cy="0"/>
        </a:xfrm>
      </p:grpSpPr>
      <p:sp>
        <p:nvSpPr>
          <p:cNvPr id="297" name="Google Shape;297;h61fb1e9ae807ce97_0_43"/>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h61fb1e9ae807ce97_0_43"/>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3000">
                <a:solidFill>
                  <a:srgbClr val="48404E"/>
                </a:solidFill>
              </a:rPr>
              <a:t>DistilBERT</a:t>
            </a:r>
            <a:endParaRPr/>
          </a:p>
        </p:txBody>
      </p:sp>
      <p:sp>
        <p:nvSpPr>
          <p:cNvPr id="299" name="Google Shape;299;h61fb1e9ae807ce97_0_43"/>
          <p:cNvSpPr txBox="1"/>
          <p:nvPr/>
        </p:nvSpPr>
        <p:spPr>
          <a:xfrm>
            <a:off x="822959" y="892415"/>
            <a:ext cx="10515600" cy="3078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None/>
            </a:pPr>
            <a:r>
              <a:rPr lang="en-US">
                <a:solidFill>
                  <a:srgbClr val="675E6D"/>
                </a:solidFill>
              </a:rPr>
              <a:t>How the transformer based model performed</a:t>
            </a:r>
            <a:endParaRPr>
              <a:solidFill>
                <a:srgbClr val="675E6D"/>
              </a:solidFill>
            </a:endParaRPr>
          </a:p>
        </p:txBody>
      </p:sp>
      <p:sp>
        <p:nvSpPr>
          <p:cNvPr id="300" name="Google Shape;300;h61fb1e9ae807ce97_0_43"/>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h61fb1e9ae807ce97_0_43"/>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302" name="Google Shape;302;h61fb1e9ae807ce97_0_43"/>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12</a:t>
            </a:r>
            <a:endParaRPr/>
          </a:p>
        </p:txBody>
      </p:sp>
      <p:pic>
        <p:nvPicPr>
          <p:cNvPr id="303" name="Google Shape;303;h61fb1e9ae807ce97_0_43"/>
          <p:cNvPicPr preferRelativeResize="0"/>
          <p:nvPr/>
        </p:nvPicPr>
        <p:blipFill>
          <a:blip r:embed="rId3">
            <a:alphaModFix/>
          </a:blip>
          <a:stretch>
            <a:fillRect/>
          </a:stretch>
        </p:blipFill>
        <p:spPr>
          <a:xfrm>
            <a:off x="612725" y="1259275"/>
            <a:ext cx="4944150" cy="1701875"/>
          </a:xfrm>
          <a:prstGeom prst="rect">
            <a:avLst/>
          </a:prstGeom>
          <a:noFill/>
          <a:ln>
            <a:noFill/>
          </a:ln>
        </p:spPr>
      </p:pic>
      <p:pic>
        <p:nvPicPr>
          <p:cNvPr id="304" name="Google Shape;304;h61fb1e9ae807ce97_0_43"/>
          <p:cNvPicPr preferRelativeResize="0"/>
          <p:nvPr/>
        </p:nvPicPr>
        <p:blipFill>
          <a:blip r:embed="rId4">
            <a:alphaModFix/>
          </a:blip>
          <a:stretch>
            <a:fillRect/>
          </a:stretch>
        </p:blipFill>
        <p:spPr>
          <a:xfrm>
            <a:off x="2231400" y="3020200"/>
            <a:ext cx="3359750" cy="3476551"/>
          </a:xfrm>
          <a:prstGeom prst="rect">
            <a:avLst/>
          </a:prstGeom>
          <a:noFill/>
          <a:ln>
            <a:noFill/>
          </a:ln>
        </p:spPr>
      </p:pic>
      <p:pic>
        <p:nvPicPr>
          <p:cNvPr id="305" name="Google Shape;305;h61fb1e9ae807ce97_0_43"/>
          <p:cNvPicPr preferRelativeResize="0"/>
          <p:nvPr/>
        </p:nvPicPr>
        <p:blipFill>
          <a:blip r:embed="rId5">
            <a:alphaModFix/>
          </a:blip>
          <a:stretch>
            <a:fillRect/>
          </a:stretch>
        </p:blipFill>
        <p:spPr>
          <a:xfrm>
            <a:off x="6620025" y="1331725"/>
            <a:ext cx="4944150" cy="2452950"/>
          </a:xfrm>
          <a:prstGeom prst="rect">
            <a:avLst/>
          </a:prstGeom>
          <a:noFill/>
          <a:ln>
            <a:noFill/>
          </a:ln>
        </p:spPr>
      </p:pic>
      <p:sp>
        <p:nvSpPr>
          <p:cNvPr id="306" name="Google Shape;306;h61fb1e9ae807ce97_0_43"/>
          <p:cNvSpPr txBox="1"/>
          <p:nvPr/>
        </p:nvSpPr>
        <p:spPr>
          <a:xfrm>
            <a:off x="502925" y="4121825"/>
            <a:ext cx="5274000" cy="307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a:t>Binary Classification</a:t>
            </a:r>
            <a:endParaRPr/>
          </a:p>
        </p:txBody>
      </p:sp>
      <p:sp>
        <p:nvSpPr>
          <p:cNvPr id="307" name="Google Shape;307;h61fb1e9ae807ce97_0_43"/>
          <p:cNvSpPr txBox="1"/>
          <p:nvPr/>
        </p:nvSpPr>
        <p:spPr>
          <a:xfrm>
            <a:off x="6620025" y="4121825"/>
            <a:ext cx="5274000" cy="307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a:t>Multi Label Classification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311" name="Shape 311"/>
        <p:cNvGrpSpPr/>
        <p:nvPr/>
      </p:nvGrpSpPr>
      <p:grpSpPr>
        <a:xfrm>
          <a:off x="0" y="0"/>
          <a:ext cx="0" cy="0"/>
          <a:chOff x="0" y="0"/>
          <a:chExt cx="0" cy="0"/>
        </a:xfrm>
      </p:grpSpPr>
      <p:sp>
        <p:nvSpPr>
          <p:cNvPr id="312" name="Google Shape;312;h61fb1e9ae807ce97_0_63"/>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h61fb1e9ae807ce97_0_63"/>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3000">
                <a:solidFill>
                  <a:srgbClr val="48404E"/>
                </a:solidFill>
              </a:rPr>
              <a:t>What Errors does the model make?</a:t>
            </a:r>
            <a:endParaRPr/>
          </a:p>
        </p:txBody>
      </p:sp>
      <p:sp>
        <p:nvSpPr>
          <p:cNvPr id="314" name="Google Shape;314;h61fb1e9ae807ce97_0_63"/>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h61fb1e9ae807ce97_0_63"/>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316" name="Google Shape;316;h61fb1e9ae807ce97_0_63"/>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13</a:t>
            </a:r>
            <a:endParaRPr/>
          </a:p>
        </p:txBody>
      </p:sp>
      <p:sp>
        <p:nvSpPr>
          <p:cNvPr id="317" name="Google Shape;317;h61fb1e9ae807ce97_0_63"/>
          <p:cNvSpPr/>
          <p:nvPr/>
        </p:nvSpPr>
        <p:spPr>
          <a:xfrm>
            <a:off x="822950" y="886975"/>
            <a:ext cx="10832400" cy="5487300"/>
          </a:xfrm>
          <a:prstGeom prst="roundRect">
            <a:avLst>
              <a:gd fmla="val 16667"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h61fb1e9ae807ce97_0_63"/>
          <p:cNvSpPr txBox="1"/>
          <p:nvPr/>
        </p:nvSpPr>
        <p:spPr>
          <a:xfrm>
            <a:off x="935400" y="1324000"/>
            <a:ext cx="10384800" cy="48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chemeClr val="dk1"/>
                </a:solidFill>
                <a:latin typeface="Calibri"/>
                <a:ea typeface="Calibri"/>
                <a:cs typeface="Calibri"/>
                <a:sym typeface="Calibri"/>
              </a:rPr>
              <a:t>The Binary GBV classifier.</a:t>
            </a:r>
            <a:endParaRPr b="1"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For the three false negatives produced:</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The first narrative was a brief sexual assault disclosure using sensored abbreviations ‘sa’ when talking about an abortion performed in the past.</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For the second one, the narrative contained a brief sexial assault disclosure within a broader discussion of suicidal thoughts, self-harm and mental health challenges. The model may have placed greater emphasis on the dominant mental health-related concerns.</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The third narrative described a past rape using censored terminology such as ‘r@pe’ and ‘r*ped’, hence the model may have struggled to recognize these obfuscated expressions.</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For the False Positives:</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The patterns revealed were, the narratives described experiences of physical abuse, sexual assault or family violence despite being labelled as non-GBV, suggesting possible annotation inconsistencies. They also contained ambiguous reference s to abuse without sufficient context to confirm GBV.</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b="1" lang="en-US" sz="1500">
                <a:solidFill>
                  <a:schemeClr val="dk1"/>
                </a:solidFill>
                <a:latin typeface="Calibri"/>
                <a:ea typeface="Calibri"/>
                <a:cs typeface="Calibri"/>
                <a:sym typeface="Calibri"/>
              </a:rPr>
              <a:t>The Multi Label GBV classifier:</a:t>
            </a:r>
            <a:endParaRPr b="1"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Examining the narratives that were misclassified for each category revealed that category specific thresholds affected the models ability to classify some narratives correctly. These thresholds were still maintained for the final DistilBERT model as they achieved a high macro-F1 score, which is our metric for evaluation.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322" name="Shape 322"/>
        <p:cNvGrpSpPr/>
        <p:nvPr/>
      </p:nvGrpSpPr>
      <p:grpSpPr>
        <a:xfrm>
          <a:off x="0" y="0"/>
          <a:ext cx="0" cy="0"/>
          <a:chOff x="0" y="0"/>
          <a:chExt cx="0" cy="0"/>
        </a:xfrm>
      </p:grpSpPr>
      <p:sp>
        <p:nvSpPr>
          <p:cNvPr id="323" name="Google Shape;323;p8"/>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8"/>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3000">
                <a:solidFill>
                  <a:srgbClr val="48404E"/>
                </a:solidFill>
              </a:rPr>
              <a:t>Threshold tuning for Multi-label classification</a:t>
            </a:r>
            <a:endParaRPr/>
          </a:p>
        </p:txBody>
      </p:sp>
      <p:sp>
        <p:nvSpPr>
          <p:cNvPr id="325" name="Google Shape;325;p8"/>
          <p:cNvSpPr txBox="1"/>
          <p:nvPr/>
        </p:nvSpPr>
        <p:spPr>
          <a:xfrm>
            <a:off x="804684" y="886965"/>
            <a:ext cx="10515600" cy="785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500">
                <a:solidFill>
                  <a:srgbClr val="675E6D"/>
                </a:solidFill>
              </a:rPr>
              <a:t>Instead of simply selecting the highest probability, each GBV category is evaluated independently. We experimented with thresholds to achieve a balance between identifying as many genuine GBV cases as possible while limiting incorrect predictions. </a:t>
            </a:r>
            <a:endParaRPr/>
          </a:p>
        </p:txBody>
      </p:sp>
      <p:sp>
        <p:nvSpPr>
          <p:cNvPr id="326" name="Google Shape;326;p8"/>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8"/>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328" name="Google Shape;328;p8"/>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14</a:t>
            </a:r>
            <a:endParaRPr/>
          </a:p>
        </p:txBody>
      </p:sp>
      <p:pic>
        <p:nvPicPr>
          <p:cNvPr id="329" name="Google Shape;329;p8"/>
          <p:cNvPicPr preferRelativeResize="0"/>
          <p:nvPr/>
        </p:nvPicPr>
        <p:blipFill>
          <a:blip r:embed="rId3">
            <a:alphaModFix/>
          </a:blip>
          <a:stretch>
            <a:fillRect/>
          </a:stretch>
        </p:blipFill>
        <p:spPr>
          <a:xfrm>
            <a:off x="804675" y="1717650"/>
            <a:ext cx="10698600" cy="4322650"/>
          </a:xfrm>
          <a:prstGeom prst="rect">
            <a:avLst/>
          </a:prstGeom>
          <a:solidFill>
            <a:srgbClr val="E8E1EC"/>
          </a:solidFill>
          <a:ln>
            <a:noFill/>
          </a:ln>
          <a:effectLst>
            <a:outerShdw blurRad="40000" rotWithShape="0" dir="5400000" dist="23000">
              <a:srgbClr val="000000">
                <a:alpha val="349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333" name="Shape 333"/>
        <p:cNvGrpSpPr/>
        <p:nvPr/>
      </p:nvGrpSpPr>
      <p:grpSpPr>
        <a:xfrm>
          <a:off x="0" y="0"/>
          <a:ext cx="0" cy="0"/>
          <a:chOff x="0" y="0"/>
          <a:chExt cx="0" cy="0"/>
        </a:xfrm>
      </p:grpSpPr>
      <p:sp>
        <p:nvSpPr>
          <p:cNvPr id="334" name="Google Shape;334;hef299680b987ec2_1_111"/>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hef299680b987ec2_1_111"/>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3000">
                <a:solidFill>
                  <a:srgbClr val="48404E"/>
                </a:solidFill>
              </a:rPr>
              <a:t>Threshold tuning for Multi-label classification</a:t>
            </a:r>
            <a:endParaRPr/>
          </a:p>
        </p:txBody>
      </p:sp>
      <p:sp>
        <p:nvSpPr>
          <p:cNvPr id="336" name="Google Shape;336;hef299680b987ec2_1_111"/>
          <p:cNvSpPr txBox="1"/>
          <p:nvPr/>
        </p:nvSpPr>
        <p:spPr>
          <a:xfrm>
            <a:off x="804684" y="886965"/>
            <a:ext cx="10515600" cy="785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500">
                <a:solidFill>
                  <a:srgbClr val="675E6D"/>
                </a:solidFill>
              </a:rPr>
              <a:t>Instead of simply selecting the highest probability, each GBV category is evaluated independently. We experimented with thresholds to achieve a balance between identifying as many genuine GBV cases as possible while limiting incorrect predictions. </a:t>
            </a:r>
            <a:endParaRPr/>
          </a:p>
        </p:txBody>
      </p:sp>
      <p:sp>
        <p:nvSpPr>
          <p:cNvPr id="337" name="Google Shape;337;hef299680b987ec2_1_111"/>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hef299680b987ec2_1_111"/>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339" name="Google Shape;339;hef299680b987ec2_1_111"/>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15</a:t>
            </a:r>
            <a:endParaRPr/>
          </a:p>
        </p:txBody>
      </p:sp>
      <p:pic>
        <p:nvPicPr>
          <p:cNvPr id="340" name="Google Shape;340;hef299680b987ec2_1_111"/>
          <p:cNvPicPr preferRelativeResize="0"/>
          <p:nvPr/>
        </p:nvPicPr>
        <p:blipFill>
          <a:blip r:embed="rId3">
            <a:alphaModFix/>
          </a:blip>
          <a:stretch>
            <a:fillRect/>
          </a:stretch>
        </p:blipFill>
        <p:spPr>
          <a:xfrm>
            <a:off x="1181000" y="1672075"/>
            <a:ext cx="9762950" cy="4870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344" name="Shape 344"/>
        <p:cNvGrpSpPr/>
        <p:nvPr/>
      </p:nvGrpSpPr>
      <p:grpSpPr>
        <a:xfrm>
          <a:off x="0" y="0"/>
          <a:ext cx="0" cy="0"/>
          <a:chOff x="0" y="0"/>
          <a:chExt cx="0" cy="0"/>
        </a:xfrm>
      </p:grpSpPr>
      <p:sp>
        <p:nvSpPr>
          <p:cNvPr id="345" name="Google Shape;345;hef299680b987ec2_1_91"/>
          <p:cNvSpPr/>
          <p:nvPr/>
        </p:nvSpPr>
        <p:spPr>
          <a:xfrm>
            <a:off x="502920" y="411480"/>
            <a:ext cx="109800" cy="475500"/>
          </a:xfrm>
          <a:prstGeom prst="rect">
            <a:avLst/>
          </a:prstGeom>
          <a:solidFill>
            <a:srgbClr val="8271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hef299680b987ec2_1_91"/>
          <p:cNvSpPr txBox="1"/>
          <p:nvPr/>
        </p:nvSpPr>
        <p:spPr>
          <a:xfrm>
            <a:off x="777240" y="338328"/>
            <a:ext cx="106986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Did the model learn effectively?</a:t>
            </a:r>
            <a:endParaRPr/>
          </a:p>
        </p:txBody>
      </p:sp>
      <p:sp>
        <p:nvSpPr>
          <p:cNvPr id="347" name="Google Shape;347;hef299680b987ec2_1_91"/>
          <p:cNvSpPr txBox="1"/>
          <p:nvPr/>
        </p:nvSpPr>
        <p:spPr>
          <a:xfrm>
            <a:off x="786384" y="1042415"/>
            <a:ext cx="105156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Evaluating results and acknowledging uncertainty</a:t>
            </a:r>
            <a:endParaRPr/>
          </a:p>
        </p:txBody>
      </p:sp>
      <p:sp>
        <p:nvSpPr>
          <p:cNvPr id="348" name="Google Shape;348;hef299680b987ec2_1_91"/>
          <p:cNvSpPr/>
          <p:nvPr/>
        </p:nvSpPr>
        <p:spPr>
          <a:xfrm>
            <a:off x="777240" y="6519672"/>
            <a:ext cx="10607100" cy="22800"/>
          </a:xfrm>
          <a:prstGeom prst="rect">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hef299680b987ec2_1_91"/>
          <p:cNvSpPr txBox="1"/>
          <p:nvPr/>
        </p:nvSpPr>
        <p:spPr>
          <a:xfrm>
            <a:off x="804672" y="6565392"/>
            <a:ext cx="73152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350" name="Google Shape;350;hef299680b987ec2_1_91"/>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16</a:t>
            </a:r>
            <a:endParaRPr/>
          </a:p>
        </p:txBody>
      </p:sp>
      <p:sp>
        <p:nvSpPr>
          <p:cNvPr id="351" name="Google Shape;351;hef299680b987ec2_1_91"/>
          <p:cNvSpPr/>
          <p:nvPr/>
        </p:nvSpPr>
        <p:spPr>
          <a:xfrm>
            <a:off x="960120" y="1719072"/>
            <a:ext cx="3840600" cy="3291900"/>
          </a:xfrm>
          <a:prstGeom prst="roundRect">
            <a:avLst>
              <a:gd fmla="val 16667" name="adj"/>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hef299680b987ec2_1_91"/>
          <p:cNvSpPr txBox="1"/>
          <p:nvPr/>
        </p:nvSpPr>
        <p:spPr>
          <a:xfrm>
            <a:off x="1280160" y="2157984"/>
            <a:ext cx="3200400" cy="985200"/>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i="0" lang="en-US" sz="5800" u="none" cap="none" strike="noStrike">
                <a:solidFill>
                  <a:srgbClr val="82718C"/>
                </a:solidFill>
                <a:latin typeface="Arial"/>
                <a:ea typeface="Arial"/>
                <a:cs typeface="Arial"/>
                <a:sym typeface="Arial"/>
              </a:rPr>
              <a:t>0.784</a:t>
            </a:r>
            <a:endParaRPr/>
          </a:p>
        </p:txBody>
      </p:sp>
      <p:sp>
        <p:nvSpPr>
          <p:cNvPr id="353" name="Google Shape;353;hef299680b987ec2_1_91"/>
          <p:cNvSpPr txBox="1"/>
          <p:nvPr/>
        </p:nvSpPr>
        <p:spPr>
          <a:xfrm>
            <a:off x="1280160" y="3383280"/>
            <a:ext cx="3200400" cy="805500"/>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0" i="0" lang="en-US" sz="1900" u="none" cap="none" strike="noStrike">
                <a:solidFill>
                  <a:srgbClr val="48404E"/>
                </a:solidFill>
                <a:latin typeface="Arial"/>
                <a:ea typeface="Arial"/>
                <a:cs typeface="Arial"/>
                <a:sym typeface="Arial"/>
              </a:rPr>
              <a:t>Approximate macro F1</a:t>
            </a:r>
            <a:endParaRPr/>
          </a:p>
          <a:p>
            <a:pPr indent="0" lvl="0" marL="0" marR="0" rtl="0" algn="ctr">
              <a:spcBef>
                <a:spcPts val="1000"/>
              </a:spcBef>
              <a:spcAft>
                <a:spcPts val="0"/>
              </a:spcAft>
              <a:buNone/>
            </a:pPr>
            <a:r>
              <a:rPr b="0" i="0" lang="en-US" sz="1900" u="none" cap="none" strike="noStrike">
                <a:solidFill>
                  <a:srgbClr val="48404E"/>
                </a:solidFill>
                <a:latin typeface="Arial"/>
                <a:ea typeface="Arial"/>
                <a:cs typeface="Arial"/>
                <a:sym typeface="Arial"/>
              </a:rPr>
              <a:t>on English validation data</a:t>
            </a:r>
            <a:endParaRPr/>
          </a:p>
        </p:txBody>
      </p:sp>
      <p:sp>
        <p:nvSpPr>
          <p:cNvPr id="354" name="Google Shape;354;hef299680b987ec2_1_91"/>
          <p:cNvSpPr/>
          <p:nvPr/>
        </p:nvSpPr>
        <p:spPr>
          <a:xfrm>
            <a:off x="5138928" y="1719072"/>
            <a:ext cx="5989200" cy="3291900"/>
          </a:xfrm>
          <a:prstGeom prst="roundRect">
            <a:avLst>
              <a:gd fmla="val 16667"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hef299680b987ec2_1_91"/>
          <p:cNvSpPr txBox="1"/>
          <p:nvPr/>
        </p:nvSpPr>
        <p:spPr>
          <a:xfrm>
            <a:off x="5431536" y="1965960"/>
            <a:ext cx="5303400" cy="430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200" u="none" cap="none" strike="noStrike">
                <a:solidFill>
                  <a:srgbClr val="48404E"/>
                </a:solidFill>
                <a:latin typeface="Arial"/>
                <a:ea typeface="Arial"/>
                <a:cs typeface="Arial"/>
                <a:sym typeface="Arial"/>
              </a:rPr>
              <a:t>What this tells us</a:t>
            </a:r>
            <a:endParaRPr/>
          </a:p>
        </p:txBody>
      </p:sp>
      <p:sp>
        <p:nvSpPr>
          <p:cNvPr id="356" name="Google Shape;356;hef299680b987ec2_1_91"/>
          <p:cNvSpPr txBox="1"/>
          <p:nvPr/>
        </p:nvSpPr>
        <p:spPr>
          <a:xfrm>
            <a:off x="5431536" y="2542032"/>
            <a:ext cx="5257800" cy="1785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700" u="none" cap="none" strike="noStrike">
                <a:solidFill>
                  <a:srgbClr val="48404E"/>
                </a:solidFill>
                <a:latin typeface="Arial"/>
                <a:ea typeface="Arial"/>
                <a:cs typeface="Arial"/>
                <a:sym typeface="Arial"/>
              </a:rPr>
              <a:t>• We measured performance across the categories.</a:t>
            </a:r>
            <a:endParaRPr/>
          </a:p>
          <a:p>
            <a:pPr indent="0" lvl="0" marL="0" marR="0" rtl="0" algn="l">
              <a:spcBef>
                <a:spcPts val="1000"/>
              </a:spcBef>
              <a:spcAft>
                <a:spcPts val="0"/>
              </a:spcAft>
              <a:buNone/>
            </a:pPr>
            <a:r>
              <a:rPr b="0" i="0" lang="en-US" sz="1700" u="none" cap="none" strike="noStrike">
                <a:solidFill>
                  <a:srgbClr val="48404E"/>
                </a:solidFill>
                <a:latin typeface="Arial"/>
                <a:ea typeface="Arial"/>
                <a:cs typeface="Arial"/>
                <a:sym typeface="Arial"/>
              </a:rPr>
              <a:t>• The score summarises precision and recall.</a:t>
            </a:r>
            <a:endParaRPr/>
          </a:p>
          <a:p>
            <a:pPr indent="0" lvl="0" marL="0" marR="0" rtl="0" algn="l">
              <a:spcBef>
                <a:spcPts val="1000"/>
              </a:spcBef>
              <a:spcAft>
                <a:spcPts val="0"/>
              </a:spcAft>
              <a:buNone/>
            </a:pPr>
            <a:r>
              <a:rPr b="0" i="0" lang="en-US" sz="1700" u="none" cap="none" strike="noStrike">
                <a:solidFill>
                  <a:srgbClr val="48404E"/>
                </a:solidFill>
                <a:latin typeface="Arial"/>
                <a:ea typeface="Arial"/>
                <a:cs typeface="Arial"/>
                <a:sym typeface="Arial"/>
              </a:rPr>
              <a:t>• Some cases will still be missed or misclassified.</a:t>
            </a:r>
            <a:endParaRPr/>
          </a:p>
          <a:p>
            <a:pPr indent="0" lvl="0" marL="0" marR="0" rtl="0" algn="l">
              <a:spcBef>
                <a:spcPts val="1000"/>
              </a:spcBef>
              <a:spcAft>
                <a:spcPts val="0"/>
              </a:spcAft>
              <a:buNone/>
            </a:pPr>
            <a:r>
              <a:rPr b="0" i="0" lang="en-US" sz="1700" u="none" cap="none" strike="noStrike">
                <a:solidFill>
                  <a:srgbClr val="48404E"/>
                </a:solidFill>
                <a:latin typeface="Arial"/>
                <a:ea typeface="Arial"/>
                <a:cs typeface="Arial"/>
                <a:sym typeface="Arial"/>
              </a:rPr>
              <a:t>• Kenyan-context and Kiswahili accuracy need further testing.</a:t>
            </a:r>
            <a:endParaRPr/>
          </a:p>
        </p:txBody>
      </p:sp>
      <p:sp>
        <p:nvSpPr>
          <p:cNvPr id="357" name="Google Shape;357;hef299680b987ec2_1_91"/>
          <p:cNvSpPr/>
          <p:nvPr/>
        </p:nvSpPr>
        <p:spPr>
          <a:xfrm>
            <a:off x="822960" y="5696712"/>
            <a:ext cx="10515600" cy="530400"/>
          </a:xfrm>
          <a:prstGeom prst="roundRect">
            <a:avLst>
              <a:gd fmla="val 16667" name="adj"/>
            </a:avLst>
          </a:prstGeom>
          <a:solidFill>
            <a:srgbClr val="E8E1E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hef299680b987ec2_1_91"/>
          <p:cNvSpPr txBox="1"/>
          <p:nvPr/>
        </p:nvSpPr>
        <p:spPr>
          <a:xfrm>
            <a:off x="987552" y="5797296"/>
            <a:ext cx="101499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A missed label never means an experience is safe or that violence did not occur.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362" name="Shape 362"/>
        <p:cNvGrpSpPr/>
        <p:nvPr/>
      </p:nvGrpSpPr>
      <p:grpSpPr>
        <a:xfrm>
          <a:off x="0" y="0"/>
          <a:ext cx="0" cy="0"/>
          <a:chOff x="0" y="0"/>
          <a:chExt cx="0" cy="0"/>
        </a:xfrm>
      </p:grpSpPr>
      <p:sp>
        <p:nvSpPr>
          <p:cNvPr id="363" name="Google Shape;363;p7"/>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7"/>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Training Salama to recognise experiences</a:t>
            </a:r>
            <a:endParaRPr/>
          </a:p>
        </p:txBody>
      </p:sp>
      <p:sp>
        <p:nvSpPr>
          <p:cNvPr id="365" name="Google Shape;365;p7"/>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Multi-label classification in plain language</a:t>
            </a:r>
            <a:endParaRPr/>
          </a:p>
        </p:txBody>
      </p:sp>
      <p:sp>
        <p:nvSpPr>
          <p:cNvPr id="366" name="Google Shape;366;p7"/>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7"/>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368" name="Google Shape;368;p7"/>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17</a:t>
            </a:r>
            <a:endParaRPr/>
          </a:p>
        </p:txBody>
      </p:sp>
      <p:sp>
        <p:nvSpPr>
          <p:cNvPr id="369" name="Google Shape;369;p7"/>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7"/>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7"/>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What goes in?</a:t>
            </a:r>
            <a:endParaRPr/>
          </a:p>
        </p:txBody>
      </p:sp>
      <p:sp>
        <p:nvSpPr>
          <p:cNvPr id="372" name="Google Shape;372;p7"/>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A written description of an experience.</a:t>
            </a:r>
            <a:endParaRPr/>
          </a:p>
        </p:txBody>
      </p:sp>
      <p:sp>
        <p:nvSpPr>
          <p:cNvPr id="373" name="Google Shape;373;p7"/>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7"/>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7"/>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What the model learns</a:t>
            </a:r>
            <a:endParaRPr/>
          </a:p>
        </p:txBody>
      </p:sp>
      <p:sp>
        <p:nvSpPr>
          <p:cNvPr id="376" name="Google Shape;376;p7"/>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Language patterns associated with annotated GBV categories.</a:t>
            </a:r>
            <a:endParaRPr/>
          </a:p>
        </p:txBody>
      </p:sp>
      <p:sp>
        <p:nvSpPr>
          <p:cNvPr id="377" name="Google Shape;377;p7"/>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7"/>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7"/>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Why multi-label?</a:t>
            </a:r>
            <a:endParaRPr/>
          </a:p>
        </p:txBody>
      </p:sp>
      <p:sp>
        <p:nvSpPr>
          <p:cNvPr id="380" name="Google Shape;380;p7"/>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One experience can involve several forms of harm.</a:t>
            </a:r>
            <a:endParaRPr/>
          </a:p>
        </p:txBody>
      </p:sp>
      <p:sp>
        <p:nvSpPr>
          <p:cNvPr id="381" name="Google Shape;381;p7"/>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7"/>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7"/>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What comes out?</a:t>
            </a:r>
            <a:endParaRPr/>
          </a:p>
        </p:txBody>
      </p:sp>
      <p:sp>
        <p:nvSpPr>
          <p:cNvPr id="384" name="Google Shape;384;p7"/>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Potentially relevant categories—not a professional assessment.</a:t>
            </a:r>
            <a:endParaRPr/>
          </a:p>
        </p:txBody>
      </p:sp>
      <p:sp>
        <p:nvSpPr>
          <p:cNvPr id="385" name="Google Shape;385;p7"/>
          <p:cNvSpPr/>
          <p:nvPr/>
        </p:nvSpPr>
        <p:spPr>
          <a:xfrm>
            <a:off x="822960" y="5696712"/>
            <a:ext cx="10515600" cy="530352"/>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7"/>
          <p:cNvSpPr txBox="1"/>
          <p:nvPr/>
        </p:nvSpPr>
        <p:spPr>
          <a:xfrm>
            <a:off x="987552" y="5797296"/>
            <a:ext cx="10149840" cy="320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Model: fine-tuned DistilBERT. Categories: domestic violence, rape, sexual harassment, child abuse/endangerment.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390" name="Shape 390"/>
        <p:cNvGrpSpPr/>
        <p:nvPr/>
      </p:nvGrpSpPr>
      <p:grpSpPr>
        <a:xfrm>
          <a:off x="0" y="0"/>
          <a:ext cx="0" cy="0"/>
          <a:chOff x="0" y="0"/>
          <a:chExt cx="0" cy="0"/>
        </a:xfrm>
      </p:grpSpPr>
      <p:sp>
        <p:nvSpPr>
          <p:cNvPr id="391" name="Google Shape;391;p9"/>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9"/>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Making Salama bilingual</a:t>
            </a:r>
            <a:endParaRPr/>
          </a:p>
        </p:txBody>
      </p:sp>
      <p:sp>
        <p:nvSpPr>
          <p:cNvPr id="393" name="Google Shape;393;p9"/>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English and Kiswahili support</a:t>
            </a:r>
            <a:endParaRPr/>
          </a:p>
        </p:txBody>
      </p:sp>
      <p:sp>
        <p:nvSpPr>
          <p:cNvPr id="394" name="Google Shape;394;p9"/>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9"/>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396" name="Google Shape;396;p9"/>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18</a:t>
            </a:r>
            <a:endParaRPr/>
          </a:p>
        </p:txBody>
      </p:sp>
      <p:sp>
        <p:nvSpPr>
          <p:cNvPr id="397" name="Google Shape;397;p9"/>
          <p:cNvSpPr/>
          <p:nvPr/>
        </p:nvSpPr>
        <p:spPr>
          <a:xfrm>
            <a:off x="777240" y="2103120"/>
            <a:ext cx="2670048" cy="224028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9"/>
          <p:cNvSpPr txBox="1"/>
          <p:nvPr/>
        </p:nvSpPr>
        <p:spPr>
          <a:xfrm>
            <a:off x="914400" y="2267712"/>
            <a:ext cx="640080" cy="41148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200" u="none" cap="none" strike="noStrike">
                <a:solidFill>
                  <a:srgbClr val="82718C"/>
                </a:solidFill>
                <a:latin typeface="Arial"/>
                <a:ea typeface="Arial"/>
                <a:cs typeface="Arial"/>
                <a:sym typeface="Arial"/>
              </a:rPr>
              <a:t>01</a:t>
            </a:r>
            <a:endParaRPr/>
          </a:p>
        </p:txBody>
      </p:sp>
      <p:sp>
        <p:nvSpPr>
          <p:cNvPr id="399" name="Google Shape;399;p9"/>
          <p:cNvSpPr txBox="1"/>
          <p:nvPr/>
        </p:nvSpPr>
        <p:spPr>
          <a:xfrm>
            <a:off x="914400" y="2770632"/>
            <a:ext cx="2423160" cy="43891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800" u="none" cap="none" strike="noStrike">
                <a:solidFill>
                  <a:srgbClr val="48404E"/>
                </a:solidFill>
                <a:latin typeface="Arial"/>
                <a:ea typeface="Arial"/>
                <a:cs typeface="Arial"/>
                <a:sym typeface="Arial"/>
              </a:rPr>
              <a:t>Kiswahili narrative</a:t>
            </a:r>
            <a:endParaRPr/>
          </a:p>
        </p:txBody>
      </p:sp>
      <p:sp>
        <p:nvSpPr>
          <p:cNvPr id="400" name="Google Shape;400;p9"/>
          <p:cNvSpPr txBox="1"/>
          <p:nvPr/>
        </p:nvSpPr>
        <p:spPr>
          <a:xfrm>
            <a:off x="914400" y="3273552"/>
            <a:ext cx="2423160" cy="914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User describes an experience in Kiswahili.</a:t>
            </a:r>
            <a:endParaRPr/>
          </a:p>
        </p:txBody>
      </p:sp>
      <p:sp>
        <p:nvSpPr>
          <p:cNvPr id="401" name="Google Shape;401;p9"/>
          <p:cNvSpPr/>
          <p:nvPr/>
        </p:nvSpPr>
        <p:spPr>
          <a:xfrm>
            <a:off x="3639312" y="2103120"/>
            <a:ext cx="2670048" cy="224028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2" name="Google Shape;402;p9"/>
          <p:cNvSpPr txBox="1"/>
          <p:nvPr/>
        </p:nvSpPr>
        <p:spPr>
          <a:xfrm>
            <a:off x="3776472" y="2267712"/>
            <a:ext cx="640080" cy="41148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200" u="none" cap="none" strike="noStrike">
                <a:solidFill>
                  <a:srgbClr val="82718C"/>
                </a:solidFill>
                <a:latin typeface="Arial"/>
                <a:ea typeface="Arial"/>
                <a:cs typeface="Arial"/>
                <a:sym typeface="Arial"/>
              </a:rPr>
              <a:t>02</a:t>
            </a:r>
            <a:endParaRPr/>
          </a:p>
        </p:txBody>
      </p:sp>
      <p:sp>
        <p:nvSpPr>
          <p:cNvPr id="403" name="Google Shape;403;p9"/>
          <p:cNvSpPr txBox="1"/>
          <p:nvPr/>
        </p:nvSpPr>
        <p:spPr>
          <a:xfrm>
            <a:off x="3776472" y="2770632"/>
            <a:ext cx="2423160" cy="43891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800" u="none" cap="none" strike="noStrike">
                <a:solidFill>
                  <a:srgbClr val="48404E"/>
                </a:solidFill>
                <a:latin typeface="Arial"/>
                <a:ea typeface="Arial"/>
                <a:cs typeface="Arial"/>
                <a:sym typeface="Arial"/>
              </a:rPr>
              <a:t>Translation</a:t>
            </a:r>
            <a:endParaRPr/>
          </a:p>
        </p:txBody>
      </p:sp>
      <p:sp>
        <p:nvSpPr>
          <p:cNvPr id="404" name="Google Shape;404;p9"/>
          <p:cNvSpPr txBox="1"/>
          <p:nvPr/>
        </p:nvSpPr>
        <p:spPr>
          <a:xfrm>
            <a:off x="3776472" y="3273552"/>
            <a:ext cx="2423160" cy="914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NLLB converts the text into English.</a:t>
            </a:r>
            <a:endParaRPr/>
          </a:p>
        </p:txBody>
      </p:sp>
      <p:sp>
        <p:nvSpPr>
          <p:cNvPr id="405" name="Google Shape;405;p9"/>
          <p:cNvSpPr/>
          <p:nvPr/>
        </p:nvSpPr>
        <p:spPr>
          <a:xfrm>
            <a:off x="6501383" y="2103120"/>
            <a:ext cx="2670048" cy="224028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6" name="Google Shape;406;p9"/>
          <p:cNvSpPr txBox="1"/>
          <p:nvPr/>
        </p:nvSpPr>
        <p:spPr>
          <a:xfrm>
            <a:off x="6638544" y="2267712"/>
            <a:ext cx="640080" cy="41148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200" u="none" cap="none" strike="noStrike">
                <a:solidFill>
                  <a:srgbClr val="82718C"/>
                </a:solidFill>
                <a:latin typeface="Arial"/>
                <a:ea typeface="Arial"/>
                <a:cs typeface="Arial"/>
                <a:sym typeface="Arial"/>
              </a:rPr>
              <a:t>03</a:t>
            </a:r>
            <a:endParaRPr/>
          </a:p>
        </p:txBody>
      </p:sp>
      <p:sp>
        <p:nvSpPr>
          <p:cNvPr id="407" name="Google Shape;407;p9"/>
          <p:cNvSpPr txBox="1"/>
          <p:nvPr/>
        </p:nvSpPr>
        <p:spPr>
          <a:xfrm>
            <a:off x="6638544" y="2770632"/>
            <a:ext cx="2423160" cy="43891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800" u="none" cap="none" strike="noStrike">
                <a:solidFill>
                  <a:srgbClr val="48404E"/>
                </a:solidFill>
                <a:latin typeface="Arial"/>
                <a:ea typeface="Arial"/>
                <a:cs typeface="Arial"/>
                <a:sym typeface="Arial"/>
              </a:rPr>
              <a:t>Classification</a:t>
            </a:r>
            <a:endParaRPr/>
          </a:p>
        </p:txBody>
      </p:sp>
      <p:sp>
        <p:nvSpPr>
          <p:cNvPr id="408" name="Google Shape;408;p9"/>
          <p:cNvSpPr txBox="1"/>
          <p:nvPr/>
        </p:nvSpPr>
        <p:spPr>
          <a:xfrm>
            <a:off x="6638544" y="3273552"/>
            <a:ext cx="2423160" cy="914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DistilBERT identifies potentially relevant categories.</a:t>
            </a:r>
            <a:endParaRPr/>
          </a:p>
        </p:txBody>
      </p:sp>
      <p:sp>
        <p:nvSpPr>
          <p:cNvPr id="409" name="Google Shape;409;p9"/>
          <p:cNvSpPr/>
          <p:nvPr/>
        </p:nvSpPr>
        <p:spPr>
          <a:xfrm>
            <a:off x="9363456" y="2103120"/>
            <a:ext cx="2670048" cy="2240280"/>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9"/>
          <p:cNvSpPr txBox="1"/>
          <p:nvPr/>
        </p:nvSpPr>
        <p:spPr>
          <a:xfrm>
            <a:off x="9500616" y="2267712"/>
            <a:ext cx="640080" cy="41148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200" u="none" cap="none" strike="noStrike">
                <a:solidFill>
                  <a:srgbClr val="82718C"/>
                </a:solidFill>
                <a:latin typeface="Arial"/>
                <a:ea typeface="Arial"/>
                <a:cs typeface="Arial"/>
                <a:sym typeface="Arial"/>
              </a:rPr>
              <a:t>04</a:t>
            </a:r>
            <a:endParaRPr/>
          </a:p>
        </p:txBody>
      </p:sp>
      <p:sp>
        <p:nvSpPr>
          <p:cNvPr id="411" name="Google Shape;411;p9"/>
          <p:cNvSpPr txBox="1"/>
          <p:nvPr/>
        </p:nvSpPr>
        <p:spPr>
          <a:xfrm>
            <a:off x="9500616" y="2770632"/>
            <a:ext cx="2423160" cy="43891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800" u="none" cap="none" strike="noStrike">
                <a:solidFill>
                  <a:srgbClr val="48404E"/>
                </a:solidFill>
                <a:latin typeface="Arial"/>
                <a:ea typeface="Arial"/>
                <a:cs typeface="Arial"/>
                <a:sym typeface="Arial"/>
              </a:rPr>
              <a:t>Referral</a:t>
            </a:r>
            <a:endParaRPr/>
          </a:p>
        </p:txBody>
      </p:sp>
      <p:sp>
        <p:nvSpPr>
          <p:cNvPr id="412" name="Google Shape;412;p9"/>
          <p:cNvSpPr txBox="1"/>
          <p:nvPr/>
        </p:nvSpPr>
        <p:spPr>
          <a:xfrm>
            <a:off x="9500616" y="3273552"/>
            <a:ext cx="2423160" cy="914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Salama shows support information in the interface.</a:t>
            </a:r>
            <a:endParaRPr/>
          </a:p>
        </p:txBody>
      </p:sp>
      <p:sp>
        <p:nvSpPr>
          <p:cNvPr id="413" name="Google Shape;413;p9"/>
          <p:cNvSpPr/>
          <p:nvPr/>
        </p:nvSpPr>
        <p:spPr>
          <a:xfrm>
            <a:off x="845744" y="5696712"/>
            <a:ext cx="10515600" cy="530400"/>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9"/>
          <p:cNvSpPr txBox="1"/>
          <p:nvPr/>
        </p:nvSpPr>
        <p:spPr>
          <a:xfrm>
            <a:off x="987552" y="5797296"/>
            <a:ext cx="10149840" cy="320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Translation can change meaning; this is an important limitation to evaluate.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418" name="Shape 418"/>
        <p:cNvGrpSpPr/>
        <p:nvPr/>
      </p:nvGrpSpPr>
      <p:grpSpPr>
        <a:xfrm>
          <a:off x="0" y="0"/>
          <a:ext cx="0" cy="0"/>
          <a:chOff x="0" y="0"/>
          <a:chExt cx="0" cy="0"/>
        </a:xfrm>
      </p:grpSpPr>
      <p:sp>
        <p:nvSpPr>
          <p:cNvPr id="419" name="Google Shape;419;p10"/>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0" name="Google Shape;420;p10"/>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From categories to recommendations</a:t>
            </a:r>
            <a:endParaRPr/>
          </a:p>
        </p:txBody>
      </p:sp>
      <p:sp>
        <p:nvSpPr>
          <p:cNvPr id="421" name="Google Shape;421;p10"/>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The practical link between NLP and support</a:t>
            </a:r>
            <a:endParaRPr/>
          </a:p>
        </p:txBody>
      </p:sp>
      <p:sp>
        <p:nvSpPr>
          <p:cNvPr id="422" name="Google Shape;422;p10"/>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10"/>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424" name="Google Shape;424;p10"/>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19</a:t>
            </a:r>
            <a:endParaRPr/>
          </a:p>
        </p:txBody>
      </p:sp>
      <p:sp>
        <p:nvSpPr>
          <p:cNvPr id="425" name="Google Shape;425;p10"/>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6" name="Google Shape;426;p10"/>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10"/>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Domestic violence</a:t>
            </a:r>
            <a:endParaRPr/>
          </a:p>
        </p:txBody>
      </p:sp>
      <p:sp>
        <p:nvSpPr>
          <p:cNvPr id="428" name="Google Shape;428;p10"/>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Psychosocial, shelter/security, healthcare and legal services.</a:t>
            </a:r>
            <a:endParaRPr/>
          </a:p>
        </p:txBody>
      </p:sp>
      <p:sp>
        <p:nvSpPr>
          <p:cNvPr id="429" name="Google Shape;429;p10"/>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10"/>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10"/>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Rape</a:t>
            </a:r>
            <a:endParaRPr/>
          </a:p>
        </p:txBody>
      </p:sp>
      <p:sp>
        <p:nvSpPr>
          <p:cNvPr id="432" name="Google Shape;432;p10"/>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Healthcare, psychosocial, legal and shelter/security services.</a:t>
            </a:r>
            <a:endParaRPr/>
          </a:p>
        </p:txBody>
      </p:sp>
      <p:sp>
        <p:nvSpPr>
          <p:cNvPr id="433" name="Google Shape;433;p10"/>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10"/>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10"/>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Sexual harassment</a:t>
            </a:r>
            <a:endParaRPr/>
          </a:p>
        </p:txBody>
      </p:sp>
      <p:sp>
        <p:nvSpPr>
          <p:cNvPr id="436" name="Google Shape;436;p10"/>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Psychosocial, legal and healthcare services.</a:t>
            </a:r>
            <a:endParaRPr/>
          </a:p>
        </p:txBody>
      </p:sp>
      <p:sp>
        <p:nvSpPr>
          <p:cNvPr id="437" name="Google Shape;437;p10"/>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8" name="Google Shape;438;p10"/>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10"/>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Child abuse/endangerment</a:t>
            </a:r>
            <a:endParaRPr/>
          </a:p>
        </p:txBody>
      </p:sp>
      <p:sp>
        <p:nvSpPr>
          <p:cNvPr id="440" name="Google Shape;440;p10"/>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Shelter/security, healthcare, psychosocial and legal services.</a:t>
            </a:r>
            <a:endParaRPr/>
          </a:p>
        </p:txBody>
      </p:sp>
      <p:sp>
        <p:nvSpPr>
          <p:cNvPr id="441" name="Google Shape;441;p10"/>
          <p:cNvSpPr/>
          <p:nvPr/>
        </p:nvSpPr>
        <p:spPr>
          <a:xfrm>
            <a:off x="822960" y="5696712"/>
            <a:ext cx="10515600" cy="530352"/>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10"/>
          <p:cNvSpPr txBox="1"/>
          <p:nvPr/>
        </p:nvSpPr>
        <p:spPr>
          <a:xfrm>
            <a:off x="987552" y="5797296"/>
            <a:ext cx="10149840" cy="320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These are transparent, predefined referral rules—not real-time safety assessments.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446" name="Shape 446"/>
        <p:cNvGrpSpPr/>
        <p:nvPr/>
      </p:nvGrpSpPr>
      <p:grpSpPr>
        <a:xfrm>
          <a:off x="0" y="0"/>
          <a:ext cx="0" cy="0"/>
          <a:chOff x="0" y="0"/>
          <a:chExt cx="0" cy="0"/>
        </a:xfrm>
      </p:grpSpPr>
      <p:sp>
        <p:nvSpPr>
          <p:cNvPr id="447" name="Google Shape;447;p11"/>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8" name="Google Shape;448;p11"/>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Two journeys through Salama</a:t>
            </a:r>
            <a:endParaRPr/>
          </a:p>
        </p:txBody>
      </p:sp>
      <p:sp>
        <p:nvSpPr>
          <p:cNvPr id="449" name="Google Shape;449;p11"/>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Users can choose the path that works for them</a:t>
            </a:r>
            <a:endParaRPr/>
          </a:p>
        </p:txBody>
      </p:sp>
      <p:sp>
        <p:nvSpPr>
          <p:cNvPr id="450" name="Google Shape;450;p11"/>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11"/>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452" name="Google Shape;452;p11"/>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20</a:t>
            </a:r>
            <a:endParaRPr/>
          </a:p>
        </p:txBody>
      </p:sp>
      <p:sp>
        <p:nvSpPr>
          <p:cNvPr id="453" name="Google Shape;453;p11"/>
          <p:cNvSpPr/>
          <p:nvPr/>
        </p:nvSpPr>
        <p:spPr>
          <a:xfrm>
            <a:off x="822960" y="1828800"/>
            <a:ext cx="5074920" cy="331012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11"/>
          <p:cNvSpPr txBox="1"/>
          <p:nvPr/>
        </p:nvSpPr>
        <p:spPr>
          <a:xfrm>
            <a:off x="1060704" y="2084831"/>
            <a:ext cx="45720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200" u="none" cap="none" strike="noStrike">
                <a:solidFill>
                  <a:srgbClr val="48404E"/>
                </a:solidFill>
                <a:latin typeface="Arial"/>
                <a:ea typeface="Arial"/>
                <a:cs typeface="Arial"/>
                <a:sym typeface="Arial"/>
              </a:rPr>
              <a:t>A  Browse without disclosure</a:t>
            </a:r>
            <a:endParaRPr/>
          </a:p>
        </p:txBody>
      </p:sp>
      <p:sp>
        <p:nvSpPr>
          <p:cNvPr id="455" name="Google Shape;455;p11"/>
          <p:cNvSpPr txBox="1"/>
          <p:nvPr/>
        </p:nvSpPr>
        <p:spPr>
          <a:xfrm>
            <a:off x="1060704" y="2798064"/>
            <a:ext cx="4480560" cy="1280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2100" u="none" cap="none" strike="noStrike">
                <a:solidFill>
                  <a:srgbClr val="48404E"/>
                </a:solidFill>
                <a:latin typeface="Arial"/>
                <a:ea typeface="Arial"/>
                <a:cs typeface="Arial"/>
                <a:sym typeface="Arial"/>
              </a:rPr>
              <a:t>Choose service → Search directory → View contacts</a:t>
            </a:r>
            <a:endParaRPr/>
          </a:p>
        </p:txBody>
      </p:sp>
      <p:sp>
        <p:nvSpPr>
          <p:cNvPr id="456" name="Google Shape;456;p11"/>
          <p:cNvSpPr/>
          <p:nvPr/>
        </p:nvSpPr>
        <p:spPr>
          <a:xfrm>
            <a:off x="6153912" y="1828800"/>
            <a:ext cx="5074920" cy="331012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11"/>
          <p:cNvSpPr txBox="1"/>
          <p:nvPr/>
        </p:nvSpPr>
        <p:spPr>
          <a:xfrm>
            <a:off x="6400800" y="2084831"/>
            <a:ext cx="45720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200" u="none" cap="none" strike="noStrike">
                <a:solidFill>
                  <a:srgbClr val="48404E"/>
                </a:solidFill>
                <a:latin typeface="Arial"/>
                <a:ea typeface="Arial"/>
                <a:cs typeface="Arial"/>
                <a:sym typeface="Arial"/>
              </a:rPr>
              <a:t>B  Describe an experience</a:t>
            </a:r>
            <a:endParaRPr/>
          </a:p>
        </p:txBody>
      </p:sp>
      <p:sp>
        <p:nvSpPr>
          <p:cNvPr id="458" name="Google Shape;458;p11"/>
          <p:cNvSpPr txBox="1"/>
          <p:nvPr/>
        </p:nvSpPr>
        <p:spPr>
          <a:xfrm>
            <a:off x="6400800" y="2798064"/>
            <a:ext cx="4480560" cy="141732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2100" u="none" cap="none" strike="noStrike">
                <a:solidFill>
                  <a:srgbClr val="48404E"/>
                </a:solidFill>
                <a:latin typeface="Arial"/>
                <a:ea typeface="Arial"/>
                <a:cs typeface="Arial"/>
                <a:sym typeface="Arial"/>
              </a:rPr>
              <a:t>Write → Translate if needed → Classify → Recommend</a:t>
            </a:r>
            <a:endParaRPr/>
          </a:p>
        </p:txBody>
      </p:sp>
      <p:sp>
        <p:nvSpPr>
          <p:cNvPr id="459" name="Google Shape;459;p11"/>
          <p:cNvSpPr/>
          <p:nvPr/>
        </p:nvSpPr>
        <p:spPr>
          <a:xfrm>
            <a:off x="822960" y="5696712"/>
            <a:ext cx="10515600" cy="530352"/>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11"/>
          <p:cNvSpPr txBox="1"/>
          <p:nvPr/>
        </p:nvSpPr>
        <p:spPr>
          <a:xfrm>
            <a:off x="987552" y="5797296"/>
            <a:ext cx="10149840" cy="320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National helplines remain available whichever route a user takes.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464" name="Shape 464"/>
        <p:cNvGrpSpPr/>
        <p:nvPr/>
      </p:nvGrpSpPr>
      <p:grpSpPr>
        <a:xfrm>
          <a:off x="0" y="0"/>
          <a:ext cx="0" cy="0"/>
          <a:chOff x="0" y="0"/>
          <a:chExt cx="0" cy="0"/>
        </a:xfrm>
      </p:grpSpPr>
      <p:sp>
        <p:nvSpPr>
          <p:cNvPr id="465" name="Google Shape;465;p12"/>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6" name="Google Shape;466;p12"/>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The finished application</a:t>
            </a:r>
            <a:endParaRPr/>
          </a:p>
        </p:txBody>
      </p:sp>
      <p:sp>
        <p:nvSpPr>
          <p:cNvPr id="467" name="Google Shape;467;p12"/>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What we built in Streamlit</a:t>
            </a:r>
            <a:endParaRPr/>
          </a:p>
        </p:txBody>
      </p:sp>
      <p:sp>
        <p:nvSpPr>
          <p:cNvPr id="468" name="Google Shape;468;p12"/>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12"/>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470" name="Google Shape;470;p12"/>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21</a:t>
            </a:r>
            <a:endParaRPr/>
          </a:p>
        </p:txBody>
      </p:sp>
      <p:sp>
        <p:nvSpPr>
          <p:cNvPr id="471" name="Google Shape;471;p12"/>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2"/>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12"/>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Easy to navigate</a:t>
            </a:r>
            <a:endParaRPr/>
          </a:p>
        </p:txBody>
      </p:sp>
      <p:sp>
        <p:nvSpPr>
          <p:cNvPr id="474" name="Google Shape;474;p12"/>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English/Kiswahili controls and simple service selection.</a:t>
            </a:r>
            <a:endParaRPr/>
          </a:p>
        </p:txBody>
      </p:sp>
      <p:sp>
        <p:nvSpPr>
          <p:cNvPr id="475" name="Google Shape;475;p12"/>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6" name="Google Shape;476;p12"/>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7" name="Google Shape;477;p12"/>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Accessible on phones</a:t>
            </a:r>
            <a:endParaRPr/>
          </a:p>
        </p:txBody>
      </p:sp>
      <p:sp>
        <p:nvSpPr>
          <p:cNvPr id="478" name="Google Shape;478;p12"/>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Responsive layout tested in a mobile-sized browser view.</a:t>
            </a:r>
            <a:endParaRPr/>
          </a:p>
        </p:txBody>
      </p:sp>
      <p:sp>
        <p:nvSpPr>
          <p:cNvPr id="479" name="Google Shape;479;p12"/>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0" name="Google Shape;480;p12"/>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2"/>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Support at a glance</a:t>
            </a:r>
            <a:endParaRPr/>
          </a:p>
        </p:txBody>
      </p:sp>
      <p:sp>
        <p:nvSpPr>
          <p:cNvPr id="482" name="Google Shape;482;p12"/>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Organisation cards with contact details and national helplines.</a:t>
            </a:r>
            <a:endParaRPr/>
          </a:p>
        </p:txBody>
      </p:sp>
      <p:sp>
        <p:nvSpPr>
          <p:cNvPr id="483" name="Google Shape;483;p12"/>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4" name="Google Shape;484;p12"/>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12"/>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Runs with local models</a:t>
            </a:r>
            <a:endParaRPr/>
          </a:p>
        </p:txBody>
      </p:sp>
      <p:sp>
        <p:nvSpPr>
          <p:cNvPr id="486" name="Google Shape;486;p12"/>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Classification and translation do not require external inference APIs.</a:t>
            </a:r>
            <a:endParaRPr/>
          </a:p>
        </p:txBody>
      </p:sp>
      <p:sp>
        <p:nvSpPr>
          <p:cNvPr id="487" name="Google Shape;487;p12"/>
          <p:cNvSpPr/>
          <p:nvPr/>
        </p:nvSpPr>
        <p:spPr>
          <a:xfrm>
            <a:off x="822960" y="5696712"/>
            <a:ext cx="10515600" cy="530352"/>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12"/>
          <p:cNvSpPr txBox="1"/>
          <p:nvPr/>
        </p:nvSpPr>
        <p:spPr>
          <a:xfrm>
            <a:off x="987552" y="5797296"/>
            <a:ext cx="10149840" cy="320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Live demonstration: show both browsing and a fictional narrative-based recommendation.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492" name="Shape 492"/>
        <p:cNvGrpSpPr/>
        <p:nvPr/>
      </p:nvGrpSpPr>
      <p:grpSpPr>
        <a:xfrm>
          <a:off x="0" y="0"/>
          <a:ext cx="0" cy="0"/>
          <a:chOff x="0" y="0"/>
          <a:chExt cx="0" cy="0"/>
        </a:xfrm>
      </p:grpSpPr>
      <p:sp>
        <p:nvSpPr>
          <p:cNvPr id="493" name="Google Shape;493;p13"/>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4" name="Google Shape;494;p13"/>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Challenges and limitations</a:t>
            </a:r>
            <a:endParaRPr/>
          </a:p>
        </p:txBody>
      </p:sp>
      <p:sp>
        <p:nvSpPr>
          <p:cNvPr id="495" name="Google Shape;495;p13"/>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What we learned along the way</a:t>
            </a:r>
            <a:endParaRPr/>
          </a:p>
        </p:txBody>
      </p:sp>
      <p:sp>
        <p:nvSpPr>
          <p:cNvPr id="496" name="Google Shape;496;p13"/>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13"/>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498" name="Google Shape;498;p13"/>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22</a:t>
            </a:r>
            <a:endParaRPr/>
          </a:p>
        </p:txBody>
      </p:sp>
      <p:sp>
        <p:nvSpPr>
          <p:cNvPr id="499" name="Google Shape;499;p13"/>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0" name="Google Shape;500;p13"/>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1" name="Google Shape;501;p13"/>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Local relevance</a:t>
            </a:r>
            <a:endParaRPr/>
          </a:p>
        </p:txBody>
      </p:sp>
      <p:sp>
        <p:nvSpPr>
          <p:cNvPr id="502" name="Google Shape;502;p13"/>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The classifier was not validated on representative Kenyan narratives.</a:t>
            </a:r>
            <a:endParaRPr/>
          </a:p>
        </p:txBody>
      </p:sp>
      <p:sp>
        <p:nvSpPr>
          <p:cNvPr id="503" name="Google Shape;503;p13"/>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13"/>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13"/>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Language accuracy</a:t>
            </a:r>
            <a:endParaRPr/>
          </a:p>
        </p:txBody>
      </p:sp>
      <p:sp>
        <p:nvSpPr>
          <p:cNvPr id="506" name="Google Shape;506;p13"/>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Translation can miss nuance or change the meaning of text.</a:t>
            </a:r>
            <a:endParaRPr/>
          </a:p>
        </p:txBody>
      </p:sp>
      <p:sp>
        <p:nvSpPr>
          <p:cNvPr id="507" name="Google Shape;507;p13"/>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13"/>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13"/>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Referral coverage</a:t>
            </a:r>
            <a:endParaRPr/>
          </a:p>
        </p:txBody>
      </p:sp>
      <p:sp>
        <p:nvSpPr>
          <p:cNvPr id="510" name="Google Shape;510;p13"/>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Organisation-level resources currently focus on Nairobi.</a:t>
            </a:r>
            <a:endParaRPr/>
          </a:p>
        </p:txBody>
      </p:sp>
      <p:sp>
        <p:nvSpPr>
          <p:cNvPr id="511" name="Google Shape;511;p13"/>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2" name="Google Shape;512;p13"/>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3" name="Google Shape;513;p13"/>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Safety and privacy</a:t>
            </a:r>
            <a:endParaRPr/>
          </a:p>
        </p:txBody>
      </p:sp>
      <p:sp>
        <p:nvSpPr>
          <p:cNvPr id="514" name="Google Shape;514;p13"/>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No validated crisis triage, automatic PII masking or live service verification.</a:t>
            </a:r>
            <a:endParaRPr/>
          </a:p>
        </p:txBody>
      </p:sp>
      <p:sp>
        <p:nvSpPr>
          <p:cNvPr id="515" name="Google Shape;515;p13"/>
          <p:cNvSpPr/>
          <p:nvPr/>
        </p:nvSpPr>
        <p:spPr>
          <a:xfrm>
            <a:off x="822960" y="5696712"/>
            <a:ext cx="10515600" cy="530352"/>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13"/>
          <p:cNvSpPr txBox="1"/>
          <p:nvPr/>
        </p:nvSpPr>
        <p:spPr>
          <a:xfrm>
            <a:off x="987552" y="5797296"/>
            <a:ext cx="10149840" cy="320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Capstone demonstrations should use fictional narratives—not real disclosures.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520" name="Shape 520"/>
        <p:cNvGrpSpPr/>
        <p:nvPr/>
      </p:nvGrpSpPr>
      <p:grpSpPr>
        <a:xfrm>
          <a:off x="0" y="0"/>
          <a:ext cx="0" cy="0"/>
          <a:chOff x="0" y="0"/>
          <a:chExt cx="0" cy="0"/>
        </a:xfrm>
      </p:grpSpPr>
      <p:sp>
        <p:nvSpPr>
          <p:cNvPr id="521" name="Google Shape;521;p14"/>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14"/>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Where Salama can go next</a:t>
            </a:r>
            <a:endParaRPr/>
          </a:p>
        </p:txBody>
      </p:sp>
      <p:sp>
        <p:nvSpPr>
          <p:cNvPr id="523" name="Google Shape;523;p14"/>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Practical future improvements</a:t>
            </a:r>
            <a:endParaRPr/>
          </a:p>
        </p:txBody>
      </p:sp>
      <p:sp>
        <p:nvSpPr>
          <p:cNvPr id="524" name="Google Shape;524;p14"/>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5" name="Google Shape;525;p14"/>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526" name="Google Shape;526;p14"/>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23</a:t>
            </a:r>
            <a:endParaRPr/>
          </a:p>
        </p:txBody>
      </p:sp>
      <p:sp>
        <p:nvSpPr>
          <p:cNvPr id="527" name="Google Shape;527;p14"/>
          <p:cNvSpPr/>
          <p:nvPr/>
        </p:nvSpPr>
        <p:spPr>
          <a:xfrm>
            <a:off x="822960"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14"/>
          <p:cNvSpPr/>
          <p:nvPr/>
        </p:nvSpPr>
        <p:spPr>
          <a:xfrm>
            <a:off x="822960"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9" name="Google Shape;529;p14"/>
          <p:cNvSpPr txBox="1"/>
          <p:nvPr/>
        </p:nvSpPr>
        <p:spPr>
          <a:xfrm>
            <a:off x="1024128"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Wider reach</a:t>
            </a:r>
            <a:endParaRPr/>
          </a:p>
        </p:txBody>
      </p:sp>
      <p:sp>
        <p:nvSpPr>
          <p:cNvPr id="530" name="Google Shape;530;p14"/>
          <p:cNvSpPr txBox="1"/>
          <p:nvPr/>
        </p:nvSpPr>
        <p:spPr>
          <a:xfrm>
            <a:off x="1024128"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Add and regularly verify directories for more Kenyan counties.</a:t>
            </a:r>
            <a:endParaRPr/>
          </a:p>
        </p:txBody>
      </p:sp>
      <p:sp>
        <p:nvSpPr>
          <p:cNvPr id="531" name="Google Shape;531;p14"/>
          <p:cNvSpPr/>
          <p:nvPr/>
        </p:nvSpPr>
        <p:spPr>
          <a:xfrm>
            <a:off x="6190488" y="1828800"/>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2" name="Google Shape;532;p14"/>
          <p:cNvSpPr/>
          <p:nvPr/>
        </p:nvSpPr>
        <p:spPr>
          <a:xfrm>
            <a:off x="6190488" y="1828800"/>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14"/>
          <p:cNvSpPr txBox="1"/>
          <p:nvPr/>
        </p:nvSpPr>
        <p:spPr>
          <a:xfrm>
            <a:off x="6391656" y="1947672"/>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Stronger evaluation</a:t>
            </a:r>
            <a:endParaRPr/>
          </a:p>
        </p:txBody>
      </p:sp>
      <p:sp>
        <p:nvSpPr>
          <p:cNvPr id="534" name="Google Shape;534;p14"/>
          <p:cNvSpPr txBox="1"/>
          <p:nvPr/>
        </p:nvSpPr>
        <p:spPr>
          <a:xfrm>
            <a:off x="6391656" y="2359152"/>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Test carefully governed Kenyan English and Kiswahili examples.</a:t>
            </a:r>
            <a:endParaRPr/>
          </a:p>
        </p:txBody>
      </p:sp>
      <p:sp>
        <p:nvSpPr>
          <p:cNvPr id="535" name="Google Shape;535;p14"/>
          <p:cNvSpPr/>
          <p:nvPr/>
        </p:nvSpPr>
        <p:spPr>
          <a:xfrm>
            <a:off x="822960"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6" name="Google Shape;536;p14"/>
          <p:cNvSpPr/>
          <p:nvPr/>
        </p:nvSpPr>
        <p:spPr>
          <a:xfrm>
            <a:off x="822960"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14"/>
          <p:cNvSpPr txBox="1"/>
          <p:nvPr/>
        </p:nvSpPr>
        <p:spPr>
          <a:xfrm>
            <a:off x="1024128"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Safer workflows</a:t>
            </a:r>
            <a:endParaRPr/>
          </a:p>
        </p:txBody>
      </p:sp>
      <p:sp>
        <p:nvSpPr>
          <p:cNvPr id="538" name="Google Shape;538;p14"/>
          <p:cNvSpPr txBox="1"/>
          <p:nvPr/>
        </p:nvSpPr>
        <p:spPr>
          <a:xfrm>
            <a:off x="1024128"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Introduce human-reviewed referral and safeguarding processes.</a:t>
            </a:r>
            <a:endParaRPr/>
          </a:p>
        </p:txBody>
      </p:sp>
      <p:sp>
        <p:nvSpPr>
          <p:cNvPr id="539" name="Google Shape;539;p14"/>
          <p:cNvSpPr/>
          <p:nvPr/>
        </p:nvSpPr>
        <p:spPr>
          <a:xfrm>
            <a:off x="6190488" y="3438144"/>
            <a:ext cx="5148072" cy="1389888"/>
          </a:xfrm>
          <a:prstGeom prst="roundRect">
            <a:avLst>
              <a:gd fmla="val 16667" name="adj"/>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0" name="Google Shape;540;p14"/>
          <p:cNvSpPr/>
          <p:nvPr/>
        </p:nvSpPr>
        <p:spPr>
          <a:xfrm>
            <a:off x="6190488" y="3438144"/>
            <a:ext cx="59436" cy="13898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14"/>
          <p:cNvSpPr txBox="1"/>
          <p:nvPr/>
        </p:nvSpPr>
        <p:spPr>
          <a:xfrm>
            <a:off x="6391656" y="3557015"/>
            <a:ext cx="4736592" cy="347472"/>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1900" u="none" cap="none" strike="noStrike">
                <a:solidFill>
                  <a:srgbClr val="48404E"/>
                </a:solidFill>
                <a:latin typeface="Arial"/>
                <a:ea typeface="Arial"/>
                <a:cs typeface="Arial"/>
                <a:sym typeface="Arial"/>
              </a:rPr>
              <a:t>Secure access</a:t>
            </a:r>
            <a:endParaRPr/>
          </a:p>
        </p:txBody>
      </p:sp>
      <p:sp>
        <p:nvSpPr>
          <p:cNvPr id="542" name="Google Shape;542;p14"/>
          <p:cNvSpPr txBox="1"/>
          <p:nvPr/>
        </p:nvSpPr>
        <p:spPr>
          <a:xfrm>
            <a:off x="6391656" y="3968496"/>
            <a:ext cx="4736592" cy="786384"/>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48404E"/>
                </a:solidFill>
                <a:latin typeface="Arial"/>
                <a:ea typeface="Arial"/>
                <a:cs typeface="Arial"/>
                <a:sym typeface="Arial"/>
              </a:rPr>
              <a:t>Harden privacy and security before any real-world public use.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2"/>
        </a:solidFill>
      </p:bgPr>
    </p:bg>
    <p:spTree>
      <p:nvGrpSpPr>
        <p:cNvPr id="546" name="Shape 546"/>
        <p:cNvGrpSpPr/>
        <p:nvPr/>
      </p:nvGrpSpPr>
      <p:grpSpPr>
        <a:xfrm>
          <a:off x="0" y="0"/>
          <a:ext cx="0" cy="0"/>
          <a:chOff x="0" y="0"/>
          <a:chExt cx="0" cy="0"/>
        </a:xfrm>
      </p:grpSpPr>
      <p:sp>
        <p:nvSpPr>
          <p:cNvPr id="547" name="Google Shape;547;p15"/>
          <p:cNvSpPr/>
          <p:nvPr/>
        </p:nvSpPr>
        <p:spPr>
          <a:xfrm>
            <a:off x="502920" y="411480"/>
            <a:ext cx="109728" cy="475488"/>
          </a:xfrm>
          <a:prstGeom prst="rect">
            <a:avLst/>
          </a:prstGeom>
          <a:solidFill>
            <a:srgbClr val="82718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8" name="Google Shape;548;p15"/>
          <p:cNvSpPr txBox="1"/>
          <p:nvPr/>
        </p:nvSpPr>
        <p:spPr>
          <a:xfrm>
            <a:off x="777240" y="338328"/>
            <a:ext cx="10698480" cy="68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3000" u="none" cap="none" strike="noStrike">
                <a:solidFill>
                  <a:srgbClr val="48404E"/>
                </a:solidFill>
                <a:latin typeface="Arial"/>
                <a:ea typeface="Arial"/>
                <a:cs typeface="Arial"/>
                <a:sym typeface="Arial"/>
              </a:rPr>
              <a:t>Key takeaway</a:t>
            </a:r>
            <a:endParaRPr/>
          </a:p>
        </p:txBody>
      </p:sp>
      <p:sp>
        <p:nvSpPr>
          <p:cNvPr id="549" name="Google Shape;549;p15"/>
          <p:cNvSpPr txBox="1"/>
          <p:nvPr/>
        </p:nvSpPr>
        <p:spPr>
          <a:xfrm>
            <a:off x="786384" y="1042415"/>
            <a:ext cx="10515600" cy="457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75E6D"/>
                </a:solidFill>
                <a:latin typeface="Arial"/>
                <a:ea typeface="Arial"/>
                <a:cs typeface="Arial"/>
                <a:sym typeface="Arial"/>
              </a:rPr>
              <a:t>From language understanding to useful support information</a:t>
            </a:r>
            <a:endParaRPr/>
          </a:p>
        </p:txBody>
      </p:sp>
      <p:sp>
        <p:nvSpPr>
          <p:cNvPr id="550" name="Google Shape;550;p15"/>
          <p:cNvSpPr/>
          <p:nvPr/>
        </p:nvSpPr>
        <p:spPr>
          <a:xfrm>
            <a:off x="777240" y="6519672"/>
            <a:ext cx="10607040" cy="22860"/>
          </a:xfrm>
          <a:prstGeom prst="rect">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1" name="Google Shape;551;p15"/>
          <p:cNvSpPr txBox="1"/>
          <p:nvPr/>
        </p:nvSpPr>
        <p:spPr>
          <a:xfrm>
            <a:off x="804672" y="6565392"/>
            <a:ext cx="7315200" cy="228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900" u="none" cap="none" strike="noStrike">
                <a:solidFill>
                  <a:srgbClr val="675E6D"/>
                </a:solidFill>
                <a:latin typeface="Arial"/>
                <a:ea typeface="Arial"/>
                <a:cs typeface="Arial"/>
                <a:sym typeface="Arial"/>
              </a:rPr>
              <a:t>SALAMA  •  CAPSTONE DEMONSTRATION</a:t>
            </a:r>
            <a:endParaRPr/>
          </a:p>
        </p:txBody>
      </p:sp>
      <p:sp>
        <p:nvSpPr>
          <p:cNvPr id="552" name="Google Shape;552;p15"/>
          <p:cNvSpPr txBox="1"/>
          <p:nvPr/>
        </p:nvSpPr>
        <p:spPr>
          <a:xfrm>
            <a:off x="11064240" y="6537960"/>
            <a:ext cx="320100" cy="230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900">
                <a:solidFill>
                  <a:srgbClr val="675E6D"/>
                </a:solidFill>
              </a:rPr>
              <a:t>24</a:t>
            </a:r>
            <a:endParaRPr/>
          </a:p>
        </p:txBody>
      </p:sp>
      <p:sp>
        <p:nvSpPr>
          <p:cNvPr id="553" name="Google Shape;553;p15"/>
          <p:cNvSpPr/>
          <p:nvPr/>
        </p:nvSpPr>
        <p:spPr>
          <a:xfrm>
            <a:off x="914400" y="1874519"/>
            <a:ext cx="10287000" cy="2514600"/>
          </a:xfrm>
          <a:prstGeom prst="roundRect">
            <a:avLst>
              <a:gd fmla="val 16667" name="adj"/>
            </a:avLst>
          </a:prstGeom>
          <a:solidFill>
            <a:srgbClr val="E8E1E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4" name="Google Shape;554;p15"/>
          <p:cNvSpPr txBox="1"/>
          <p:nvPr/>
        </p:nvSpPr>
        <p:spPr>
          <a:xfrm>
            <a:off x="1280160" y="2304288"/>
            <a:ext cx="9601200" cy="178308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i="0" lang="en-US" sz="2700" u="none" cap="none" strike="noStrike">
                <a:solidFill>
                  <a:srgbClr val="48404E"/>
                </a:solidFill>
                <a:latin typeface="Arial"/>
                <a:ea typeface="Arial"/>
                <a:cs typeface="Arial"/>
                <a:sym typeface="Arial"/>
              </a:rPr>
              <a:t>Salama combines NLP, translation and transparent referral rules to help people explore potentially relevant GBV support resources—without requiring disclosure.</a:t>
            </a:r>
            <a:endParaRPr/>
          </a:p>
        </p:txBody>
      </p:sp>
      <p:sp>
        <p:nvSpPr>
          <p:cNvPr id="555" name="Google Shape;555;p15"/>
          <p:cNvSpPr txBox="1"/>
          <p:nvPr/>
        </p:nvSpPr>
        <p:spPr>
          <a:xfrm>
            <a:off x="1170432" y="4864608"/>
            <a:ext cx="9784080" cy="5943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2200" u="none" cap="none" strike="noStrike">
                <a:solidFill>
                  <a:srgbClr val="82718C"/>
                </a:solidFill>
                <a:latin typeface="Arial"/>
                <a:ea typeface="Arial"/>
                <a:cs typeface="Arial"/>
                <a:sym typeface="Arial"/>
              </a:rPr>
              <a:t>Next: a short live demonstration using fictional examples.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